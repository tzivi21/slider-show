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1699915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שמירת Data ב-Tab Storage DR</a:t>
            </a:r>
            <a:endParaRPr lang="he-IL" sz="2700" dirty="0"/>
          </a:p>
        </p:txBody>
      </p:sp>
      <p:sp>
        <p:nvSpPr>
          <p:cNvPr id="5" name="Text 2"/>
          <p:cNvSpPr/>
          <p:nvPr/>
        </p:nvSpPr>
        <p:spPr>
          <a:xfrm>
            <a:off x="82823" y="2788593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פתרון לבעיית וורקשופ נטענת לנצח בריענון</a:t>
            </a:r>
            <a:endParaRPr lang="he-IL" sz="1200" dirty="0"/>
          </a:p>
        </p:txBody>
      </p:sp>
      <p:sp>
        <p:nvSpPr>
          <p:cNvPr id="6" name="Shape 3"/>
          <p:cNvSpPr/>
          <p:nvPr/>
        </p:nvSpPr>
        <p:spPr>
          <a:xfrm>
            <a:off x="540023" y="3209032"/>
            <a:ext cx="970359" cy="234479"/>
          </a:xfrm>
          <a:prstGeom prst="roundRect">
            <a:avLst>
              <a:gd name="adj" fmla="val 78969"/>
            </a:avLst>
          </a:prstGeom>
          <a:solidFill>
            <a:srgbClr val="004D36"/>
          </a:solidFill>
          <a:ln/>
        </p:spPr>
      </p:sp>
      <p:sp>
        <p:nvSpPr>
          <p:cNvPr id="7" name="Text 4"/>
          <p:cNvSpPr/>
          <p:nvPr/>
        </p:nvSpPr>
        <p:spPr>
          <a:xfrm>
            <a:off x="632594" y="3255318"/>
            <a:ext cx="124241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 TECH TALK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587475" y="3209032"/>
            <a:ext cx="2143348" cy="234479"/>
          </a:xfrm>
          <a:prstGeom prst="roundRect">
            <a:avLst>
              <a:gd name="adj" fmla="val 78969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80046" y="3255318"/>
            <a:ext cx="241540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REACT · INDEXEDDB · COMPRESSION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889025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עולם הבעיה</a:t>
            </a:r>
            <a:endParaRPr lang="he-IL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9023" y="1549078"/>
            <a:ext cx="4634954" cy="1398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42333" y="1722388"/>
            <a:ext cx="42121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הסיטואציה הנוכחית</a:t>
            </a:r>
            <a:endParaRPr lang="he-IL" sz="1350" dirty="0"/>
          </a:p>
        </p:txBody>
      </p:sp>
      <p:sp>
        <p:nvSpPr>
          <p:cNvPr id="7" name="Text 3"/>
          <p:cNvSpPr/>
          <p:nvPr/>
        </p:nvSpPr>
        <p:spPr>
          <a:xfrm>
            <a:off x="4142333" y="2034034"/>
            <a:ext cx="421213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האפליקציה מקבלת את הData  מהחלון הראשי ושולחת אותה לטאב. ברגע שמרעננים את העמוד — הData  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נעלם לחלוטין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והעמוד נשאר בטעינה לנצח.</a:t>
            </a:r>
            <a:endParaRPr lang="he-IL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3102322"/>
            <a:ext cx="4634954" cy="11520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42333" y="3275633"/>
            <a:ext cx="42121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הפתרון הרצוי</a:t>
            </a:r>
            <a:endParaRPr lang="he-IL" sz="1350" dirty="0"/>
          </a:p>
        </p:txBody>
      </p:sp>
      <p:sp>
        <p:nvSpPr>
          <p:cNvPr id="10" name="Text 5"/>
          <p:cNvSpPr/>
          <p:nvPr/>
        </p:nvSpPr>
        <p:spPr>
          <a:xfrm>
            <a:off x="4142333" y="3587279"/>
            <a:ext cx="421213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לשמור את הData  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על הטאב עצמו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ברגע שהוא מגיע, כך שבמקרה של רענון — הנתונים ישלפו מיד מהאחסון המקומי ללא תלות בחלון השולח.</a:t>
            </a:r>
            <a:endParaRPr lang="he-IL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22635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אפשרויות שמירת דאטה בדפדפן</a:t>
            </a:r>
            <a:endParaRPr lang="he-IL" sz="2700" dirty="0"/>
          </a:p>
        </p:txBody>
      </p:sp>
      <p:sp>
        <p:nvSpPr>
          <p:cNvPr id="3" name="Text 1"/>
          <p:cNvSpPr/>
          <p:nvPr/>
        </p:nvSpPr>
        <p:spPr>
          <a:xfrm>
            <a:off x="82823" y="1459855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לפני שבוחרים — בואו נבין את הכלים העומדים לרשותנו:</a:t>
            </a:r>
            <a:endParaRPr lang="he-IL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1880295"/>
            <a:ext cx="8063954" cy="2540496"/>
          </a:xfrm>
          <a:prstGeom prst="roundRect">
            <a:avLst>
              <a:gd name="adj" fmla="val 9111"/>
            </a:avLst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0023" y="2336155"/>
            <a:ext cx="8063954" cy="96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0023" y="2796778"/>
            <a:ext cx="8063954" cy="96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0023" y="3494782"/>
            <a:ext cx="8063954" cy="96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0023" y="3955405"/>
            <a:ext cx="8063954" cy="964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6757" y="1987153"/>
            <a:ext cx="19185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טכנולוגיה</a:t>
            </a:r>
            <a:endParaRPr lang="he-IL" sz="1200" dirty="0"/>
          </a:p>
        </p:txBody>
      </p:sp>
      <p:sp>
        <p:nvSpPr>
          <p:cNvPr id="10" name="Text 8"/>
          <p:cNvSpPr/>
          <p:nvPr/>
        </p:nvSpPr>
        <p:spPr>
          <a:xfrm>
            <a:off x="2016621" y="1987153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יתרונות</a:t>
            </a:r>
            <a:endParaRPr lang="he-IL" sz="1200" dirty="0"/>
          </a:p>
        </p:txBody>
      </p:sp>
      <p:sp>
        <p:nvSpPr>
          <p:cNvPr id="11" name="Text 9"/>
          <p:cNvSpPr/>
          <p:nvPr/>
        </p:nvSpPr>
        <p:spPr>
          <a:xfrm>
            <a:off x="4108252" y="1987153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חסרונות</a:t>
            </a:r>
            <a:endParaRPr lang="he-IL" sz="1200" dirty="0"/>
          </a:p>
        </p:txBody>
      </p:sp>
      <p:sp>
        <p:nvSpPr>
          <p:cNvPr id="12" name="Text 10"/>
          <p:cNvSpPr/>
          <p:nvPr/>
        </p:nvSpPr>
        <p:spPr>
          <a:xfrm>
            <a:off x="6199882" y="1987153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מתאים לנו?</a:t>
            </a:r>
            <a:endParaRPr lang="he-IL" sz="1200" dirty="0"/>
          </a:p>
        </p:txBody>
      </p:sp>
      <p:sp>
        <p:nvSpPr>
          <p:cNvPr id="13" name="Text 11"/>
          <p:cNvSpPr/>
          <p:nvPr/>
        </p:nvSpPr>
        <p:spPr>
          <a:xfrm>
            <a:off x="703957" y="2438251"/>
            <a:ext cx="19185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6621" y="2438251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פשוט, סינכרוני, תמיכה רחבה</a:t>
            </a:r>
            <a:endParaRPr lang="he-IL" sz="1200" dirty="0"/>
          </a:p>
        </p:txBody>
      </p:sp>
      <p:sp>
        <p:nvSpPr>
          <p:cNvPr id="15" name="Text 13"/>
          <p:cNvSpPr/>
          <p:nvPr/>
        </p:nvSpPr>
        <p:spPr>
          <a:xfrm>
            <a:off x="4108252" y="2438251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מוגבל ל-5MB, רק strings</a:t>
            </a:r>
            <a:endParaRPr lang="he-IL" sz="1200" dirty="0"/>
          </a:p>
        </p:txBody>
      </p:sp>
      <p:sp>
        <p:nvSpPr>
          <p:cNvPr id="16" name="Text 14"/>
          <p:cNvSpPr/>
          <p:nvPr/>
        </p:nvSpPr>
        <p:spPr>
          <a:xfrm>
            <a:off x="6199882" y="2438251"/>
            <a:ext cx="2240310" cy="256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❌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קטן מדי לדיאטה</a:t>
            </a:r>
            <a:endParaRPr lang="he-IL" sz="1200" dirty="0"/>
          </a:p>
        </p:txBody>
      </p:sp>
      <p:sp>
        <p:nvSpPr>
          <p:cNvPr id="17" name="Text 15"/>
          <p:cNvSpPr/>
          <p:nvPr/>
        </p:nvSpPr>
        <p:spPr>
          <a:xfrm>
            <a:off x="703957" y="2898874"/>
            <a:ext cx="19185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sessionStorage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73821" y="2898874"/>
            <a:ext cx="1783110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מנוקה אוטומטית בסגירת טאב</a:t>
            </a:r>
            <a:endParaRPr lang="he-IL" sz="1200" dirty="0"/>
          </a:p>
        </p:txBody>
      </p:sp>
      <p:sp>
        <p:nvSpPr>
          <p:cNvPr id="19" name="Text 17"/>
          <p:cNvSpPr/>
          <p:nvPr/>
        </p:nvSpPr>
        <p:spPr>
          <a:xfrm>
            <a:off x="4108252" y="2898874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לא שורד רענון, מוגבל בגודל</a:t>
            </a:r>
            <a:endParaRPr lang="he-IL" sz="1200" dirty="0"/>
          </a:p>
        </p:txBody>
      </p:sp>
      <p:sp>
        <p:nvSpPr>
          <p:cNvPr id="20" name="Text 18"/>
          <p:cNvSpPr/>
          <p:nvPr/>
        </p:nvSpPr>
        <p:spPr>
          <a:xfrm>
            <a:off x="6199882" y="2898874"/>
            <a:ext cx="2240310" cy="256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❌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לא שורד רענון</a:t>
            </a:r>
            <a:endParaRPr lang="he-IL" sz="1200" dirty="0"/>
          </a:p>
        </p:txBody>
      </p:sp>
      <p:sp>
        <p:nvSpPr>
          <p:cNvPr id="21" name="Text 19"/>
          <p:cNvSpPr/>
          <p:nvPr/>
        </p:nvSpPr>
        <p:spPr>
          <a:xfrm>
            <a:off x="703957" y="3596878"/>
            <a:ext cx="19185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IndexedDB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6621" y="3596878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גדול, async, תומך ב-objects</a:t>
            </a:r>
            <a:endParaRPr lang="he-IL" sz="1200" dirty="0"/>
          </a:p>
        </p:txBody>
      </p:sp>
      <p:sp>
        <p:nvSpPr>
          <p:cNvPr id="23" name="Text 21"/>
          <p:cNvSpPr/>
          <p:nvPr/>
        </p:nvSpPr>
        <p:spPr>
          <a:xfrm>
            <a:off x="4565452" y="3596878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API מורכב, קוד verbose</a:t>
            </a:r>
            <a:endParaRPr lang="he-IL" sz="1200" dirty="0"/>
          </a:p>
        </p:txBody>
      </p:sp>
      <p:sp>
        <p:nvSpPr>
          <p:cNvPr id="24" name="Text 22"/>
          <p:cNvSpPr/>
          <p:nvPr/>
        </p:nvSpPr>
        <p:spPr>
          <a:xfrm>
            <a:off x="6199882" y="3596878"/>
            <a:ext cx="2240310" cy="256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הבחירה שלנו</a:t>
            </a:r>
            <a:endParaRPr lang="he-IL" sz="1200" dirty="0"/>
          </a:p>
        </p:txBody>
      </p:sp>
      <p:sp>
        <p:nvSpPr>
          <p:cNvPr id="25" name="Text 23"/>
          <p:cNvSpPr/>
          <p:nvPr/>
        </p:nvSpPr>
        <p:spPr>
          <a:xfrm>
            <a:off x="703957" y="4057501"/>
            <a:ext cx="19185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Cache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6621" y="4057501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מעולה ל-assets ורשת</a:t>
            </a:r>
            <a:endParaRPr lang="he-IL" sz="1200" dirty="0"/>
          </a:p>
        </p:txBody>
      </p:sp>
      <p:sp>
        <p:nvSpPr>
          <p:cNvPr id="27" name="Text 25"/>
          <p:cNvSpPr/>
          <p:nvPr/>
        </p:nvSpPr>
        <p:spPr>
          <a:xfrm>
            <a:off x="4108252" y="4057501"/>
            <a:ext cx="2240310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לא מיועד לנתוני אפליקציה</a:t>
            </a:r>
            <a:endParaRPr lang="he-IL" sz="1200" dirty="0"/>
          </a:p>
        </p:txBody>
      </p:sp>
      <p:sp>
        <p:nvSpPr>
          <p:cNvPr id="28" name="Text 26"/>
          <p:cNvSpPr/>
          <p:nvPr/>
        </p:nvSpPr>
        <p:spPr>
          <a:xfrm>
            <a:off x="6199882" y="4057501"/>
            <a:ext cx="2240310" cy="256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❌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לא רלוונטי</a:t>
            </a:r>
            <a:endParaRPr lang="he-IL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0634" y="466204"/>
            <a:ext cx="4065463" cy="4211017"/>
          </a:xfrm>
          <a:prstGeom prst="roundRect">
            <a:avLst>
              <a:gd name="adj" fmla="val 8967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82513" y="615702"/>
            <a:ext cx="3761705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למה IndexedDB?</a:t>
            </a:r>
            <a:endParaRPr lang="he-IL" sz="2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9510" y="1210494"/>
            <a:ext cx="227781" cy="227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2513" y="1205805"/>
            <a:ext cx="3268117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קיבולת גדולה</a:t>
            </a:r>
            <a:endParaRPr lang="he-IL" sz="1300" dirty="0"/>
          </a:p>
        </p:txBody>
      </p:sp>
      <p:sp>
        <p:nvSpPr>
          <p:cNvPr id="6" name="Text 3"/>
          <p:cNvSpPr/>
          <p:nvPr/>
        </p:nvSpPr>
        <p:spPr>
          <a:xfrm>
            <a:off x="582513" y="1566267"/>
            <a:ext cx="32681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2000"/>
              </a:lnSpc>
              <a:buNone/>
            </a:pPr>
            <a:r>
              <a:rPr lang="he-IL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תומך בעשרות MB ואף GB — מספיק לData גדול</a:t>
            </a:r>
            <a:endParaRPr lang="he-IL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9510" y="2111053"/>
            <a:ext cx="227781" cy="2277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2513" y="2106364"/>
            <a:ext cx="3268117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תומך ב-Objects</a:t>
            </a:r>
            <a:endParaRPr lang="he-IL" sz="1300" dirty="0"/>
          </a:p>
        </p:txBody>
      </p:sp>
      <p:sp>
        <p:nvSpPr>
          <p:cNvPr id="9" name="Text 5"/>
          <p:cNvSpPr/>
          <p:nvPr/>
        </p:nvSpPr>
        <p:spPr>
          <a:xfrm>
            <a:off x="582513" y="2466826"/>
            <a:ext cx="32681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2000"/>
              </a:lnSpc>
              <a:buNone/>
            </a:pPr>
            <a:r>
              <a:rPr lang="he-IL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שומר JSON מורכב ישירות ללא המרה ל-string</a:t>
            </a:r>
            <a:endParaRPr lang="he-IL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9510" y="3011612"/>
            <a:ext cx="227781" cy="2277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2513" y="3006923"/>
            <a:ext cx="3268117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שורד רענון וסגירה</a:t>
            </a:r>
            <a:endParaRPr lang="he-IL" sz="1300" dirty="0"/>
          </a:p>
        </p:txBody>
      </p:sp>
      <p:sp>
        <p:nvSpPr>
          <p:cNvPr id="12" name="Text 7"/>
          <p:cNvSpPr/>
          <p:nvPr/>
        </p:nvSpPr>
        <p:spPr>
          <a:xfrm>
            <a:off x="582513" y="3367385"/>
            <a:ext cx="32681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2000"/>
              </a:lnSpc>
              <a:buNone/>
            </a:pPr>
            <a:r>
              <a:rPr lang="he-IL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הנתונים נשמרים בין sessions — בדיוק מה שצריך</a:t>
            </a:r>
            <a:endParaRPr lang="he-IL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9510" y="3912171"/>
            <a:ext cx="227781" cy="2277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2513" y="3907482"/>
            <a:ext cx="3268117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אסינכרוניות מובנית</a:t>
            </a:r>
            <a:endParaRPr lang="he-IL" sz="1300" dirty="0"/>
          </a:p>
        </p:txBody>
      </p:sp>
      <p:sp>
        <p:nvSpPr>
          <p:cNvPr id="15" name="Text 9"/>
          <p:cNvSpPr/>
          <p:nvPr/>
        </p:nvSpPr>
        <p:spPr>
          <a:xfrm>
            <a:off x="582513" y="4267944"/>
            <a:ext cx="32681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2000"/>
              </a:lnSpc>
              <a:buNone/>
            </a:pPr>
            <a:r>
              <a:rPr lang="he-IL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לא חוסם את ה-UI thread — ביצועים טובים</a:t>
            </a:r>
            <a:endParaRPr lang="he-IL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054" y="648370"/>
            <a:ext cx="3846686" cy="38466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30746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כלים לעבודה עם IndexedDB ב-React</a:t>
            </a:r>
            <a:endParaRPr lang="he-IL" sz="2700" dirty="0"/>
          </a:p>
        </p:txBody>
      </p:sp>
      <p:sp>
        <p:nvSpPr>
          <p:cNvPr id="3" name="Text 1"/>
          <p:cNvSpPr/>
          <p:nvPr/>
        </p:nvSpPr>
        <p:spPr>
          <a:xfrm>
            <a:off x="82823" y="1467966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ה-API הגולמי של IndexedDB מסורבל — לכן משתמשים בספריות wrapper:</a:t>
            </a:r>
            <a:endParaRPr lang="he-IL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1888406"/>
            <a:ext cx="3954810" cy="1733699"/>
          </a:xfrm>
          <a:prstGeom prst="roundRect">
            <a:avLst>
              <a:gd name="adj" fmla="val 1335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333" y="2061716"/>
            <a:ext cx="36081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Dexie.js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333" y="2368600"/>
            <a:ext cx="3608189" cy="108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יתרונות:</a:t>
            </a:r>
            <a:pPr rtl="1" algn="r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TypeScript מובנה, query builder חזק, תיעוד מעולה</a:t>
            </a:r>
            <a:endParaRPr lang="he-IL" sz="1200" dirty="0"/>
          </a:p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חסרונות: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תלויות נוספות,יותר מסובך לשימוש, עקומת למידה גבוהה יותר</a:t>
            </a:r>
            <a:endParaRPr lang="he-IL" sz="1200" dirty="0"/>
          </a:p>
        </p:txBody>
      </p:sp>
      <p:sp>
        <p:nvSpPr>
          <p:cNvPr id="7" name="Shape 5"/>
          <p:cNvSpPr/>
          <p:nvPr/>
        </p:nvSpPr>
        <p:spPr>
          <a:xfrm>
            <a:off x="4649093" y="1888406"/>
            <a:ext cx="3954884" cy="1733699"/>
          </a:xfrm>
          <a:prstGeom prst="roundRect">
            <a:avLst>
              <a:gd name="adj" fmla="val 13351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2403" y="2061716"/>
            <a:ext cx="36082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localForage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22403" y="2368600"/>
            <a:ext cx="3608263" cy="833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יתרונות:</a:t>
            </a:r>
            <a:pPr rtl="1" algn="r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API פשוט ונקי (כמו localStorage), קליל, תומך ב-Fallback</a:t>
            </a:r>
            <a:endParaRPr lang="he-IL" sz="1200" dirty="0"/>
          </a:p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חסרונות: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פחות גמיש ל-query מתקדם</a:t>
            </a:r>
            <a:endParaRPr lang="he-IL" sz="1200" dirty="0"/>
          </a:p>
        </p:txBody>
      </p:sp>
      <p:sp>
        <p:nvSpPr>
          <p:cNvPr id="10" name="Shape 8"/>
          <p:cNvSpPr/>
          <p:nvPr/>
        </p:nvSpPr>
        <p:spPr>
          <a:xfrm>
            <a:off x="540023" y="3795638"/>
            <a:ext cx="8063954" cy="617116"/>
          </a:xfrm>
          <a:prstGeom prst="roundRect">
            <a:avLst>
              <a:gd name="adj" fmla="val 37506"/>
            </a:avLst>
          </a:prstGeom>
          <a:solidFill>
            <a:srgbClr val="00805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83" y="4015383"/>
            <a:ext cx="192881" cy="1542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4225" y="3988445"/>
            <a:ext cx="786549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המלצה: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לפרויקטים עם צורך ב-query מורכב — Dexie. לשמירה ושליפה פשוטה — localForage.</a:t>
            </a:r>
            <a:endParaRPr lang="he-IL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5708" y="2003896"/>
            <a:ext cx="414784" cy="117202"/>
          </a:xfrm>
          <a:prstGeom prst="roundRect">
            <a:avLst>
              <a:gd name="adj" fmla="val 78994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4064794" y="2027039"/>
            <a:ext cx="779413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הבחירה שלנו</a:t>
            </a:r>
            <a:endParaRPr lang="he-IL" sz="450" dirty="0"/>
          </a:p>
        </p:txBody>
      </p:sp>
      <p:sp>
        <p:nvSpPr>
          <p:cNvPr id="4" name="Text 2"/>
          <p:cNvSpPr/>
          <p:nvPr/>
        </p:nvSpPr>
        <p:spPr>
          <a:xfrm>
            <a:off x="540023" y="2136502"/>
            <a:ext cx="43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localForage — פשוט, קל, עובד</a:t>
            </a:r>
            <a:endParaRPr lang="he-IL" sz="1350" dirty="0"/>
          </a:p>
        </p:txBody>
      </p:sp>
      <p:sp>
        <p:nvSpPr>
          <p:cNvPr id="5" name="Text 3"/>
          <p:cNvSpPr/>
          <p:nvPr/>
        </p:nvSpPr>
        <p:spPr>
          <a:xfrm>
            <a:off x="82823" y="2389361"/>
            <a:ext cx="4807669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למקרה השימוש שלנו — רק שמירת Data  ושליפתו — localForage הוא הכלי המושלם</a:t>
            </a:r>
            <a:endParaRPr lang="he-IL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3373" y="475952"/>
            <a:ext cx="3525292" cy="35252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4088011"/>
            <a:ext cx="2662238" cy="6228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4856" y="4145831"/>
            <a:ext cx="92571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26641" y="4396606"/>
            <a:ext cx="248900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he-IL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API מינימליסטי</a:t>
            </a:r>
            <a:endParaRPr lang="he-IL" sz="650" dirty="0"/>
          </a:p>
        </p:txBody>
      </p:sp>
      <p:sp>
        <p:nvSpPr>
          <p:cNvPr id="10" name="Text 6"/>
          <p:cNvSpPr/>
          <p:nvPr/>
        </p:nvSpPr>
        <p:spPr>
          <a:xfrm>
            <a:off x="626641" y="4526905"/>
            <a:ext cx="2489002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pPr algn="l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/ </a:t>
            </a:r>
            <a:pPr algn="l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getItem</a:t>
            </a:r>
            <a:pPr rtl="1" algn="l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כמו localStorage רק async</a:t>
            </a:r>
            <a:endParaRPr lang="he-IL" sz="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0807" y="4088011"/>
            <a:ext cx="2662312" cy="6228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25640" y="4145831"/>
            <a:ext cx="92571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3327425" y="4396606"/>
            <a:ext cx="248907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אין תלויות כבדות</a:t>
            </a:r>
            <a:endParaRPr lang="he-IL" sz="650" dirty="0"/>
          </a:p>
        </p:txBody>
      </p:sp>
      <p:sp>
        <p:nvSpPr>
          <p:cNvPr id="14" name="Text 9"/>
          <p:cNvSpPr/>
          <p:nvPr/>
        </p:nvSpPr>
        <p:spPr>
          <a:xfrm>
            <a:off x="3327425" y="4526905"/>
            <a:ext cx="2489076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ספרייה קטנה שמתאימה לפרויקט React</a:t>
            </a:r>
            <a:endParaRPr lang="he-IL" sz="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1665" y="4088011"/>
            <a:ext cx="2662312" cy="6228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6498" y="4145831"/>
            <a:ext cx="92571" cy="11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6028283" y="4396606"/>
            <a:ext cx="248907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מתאים בדיוק</a:t>
            </a:r>
            <a:endParaRPr lang="he-IL" sz="650" dirty="0"/>
          </a:p>
        </p:txBody>
      </p:sp>
      <p:sp>
        <p:nvSpPr>
          <p:cNvPr id="18" name="Text 12"/>
          <p:cNvSpPr/>
          <p:nvPr/>
        </p:nvSpPr>
        <p:spPr>
          <a:xfrm>
            <a:off x="6028283" y="4526905"/>
            <a:ext cx="2489076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מפתח-ערך פשוט — windowId כ-key, דיאטה כ-value</a:t>
            </a:r>
            <a:endParaRPr lang="he-IL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קומפרסיה של הדיאטה</a:t>
            </a:r>
            <a:endParaRPr lang="he-IL" sz="1350" dirty="0"/>
          </a:p>
        </p:txBody>
      </p:sp>
      <p:sp>
        <p:nvSpPr>
          <p:cNvPr id="3" name="Text 1"/>
          <p:cNvSpPr/>
          <p:nvPr/>
        </p:nvSpPr>
        <p:spPr>
          <a:xfrm>
            <a:off x="82823" y="715714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לפני שמירה — דחיסת הנתונים לחיסכון במקום וביצועים:</a:t>
            </a:r>
            <a:endParaRPr lang="he-IL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895052"/>
            <a:ext cx="3937918" cy="3937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70822" y="2587749"/>
            <a:ext cx="39379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מה אני נוטה לבחור ולמה?</a:t>
            </a:r>
            <a:endParaRPr lang="he-IL" sz="650" dirty="0"/>
          </a:p>
        </p:txBody>
      </p:sp>
      <p:sp>
        <p:nvSpPr>
          <p:cNvPr id="6" name="Text 3"/>
          <p:cNvSpPr/>
          <p:nvPr/>
        </p:nvSpPr>
        <p:spPr>
          <a:xfrm>
            <a:off x="4670822" y="2733452"/>
            <a:ext cx="439511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he-IL" altLang="en-US" sz="6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CompressionStream API</a:t>
            </a:r>
            <a:pPr rtl="1" algn="l" indent="0" marL="0">
              <a:lnSpc>
                <a:spcPct val="100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מובנה בדפדפן, ללא תלויות חיצוניות, עובד עם Streams בצורה טבעית עם async/await.</a:t>
            </a:r>
            <a:endParaRPr lang="he-IL" sz="600" dirty="0"/>
          </a:p>
        </p:txBody>
      </p:sp>
      <p:sp>
        <p:nvSpPr>
          <p:cNvPr id="7" name="Text 4"/>
          <p:cNvSpPr/>
          <p:nvPr/>
        </p:nvSpPr>
        <p:spPr>
          <a:xfrm>
            <a:off x="4670822" y="2860700"/>
            <a:ext cx="393791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121920" indent="-121920">
              <a:lnSpc>
                <a:spcPct val="100000"/>
              </a:lnSpc>
              <a:buSzPct val="100000"/>
              <a:buChar char="•"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אין npm package נוסף</a:t>
            </a:r>
            <a:endParaRPr lang="he-IL" sz="600" dirty="0"/>
          </a:p>
          <a:p>
            <a:pPr rtl="1" algn="r" marL="121920" indent="-121920">
              <a:lnSpc>
                <a:spcPct val="100000"/>
              </a:lnSpc>
              <a:buSzPct val="100000"/>
              <a:buChar char="•"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קוד נקי וקריא</a:t>
            </a:r>
            <a:endParaRPr lang="he-IL" sz="600" dirty="0"/>
          </a:p>
          <a:p>
            <a:pPr rtl="1" algn="r" marL="121920" indent="-121920">
              <a:lnSpc>
                <a:spcPct val="100000"/>
              </a:lnSpc>
              <a:buSzPct val="100000"/>
              <a:buChar char="•"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קל לשימוש ומובנה בדפדפן</a:t>
            </a:r>
            <a:endParaRPr lang="he-IL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52214"/>
            <a:ext cx="8063954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דוגמת קוד — קומפרסיה + שמירה ב-IndexedDB</a:t>
            </a:r>
            <a:endParaRPr lang="he-IL" sz="1800" dirty="0"/>
          </a:p>
        </p:txBody>
      </p:sp>
      <p:sp>
        <p:nvSpPr>
          <p:cNvPr id="3" name="Shape 1"/>
          <p:cNvSpPr/>
          <p:nvPr/>
        </p:nvSpPr>
        <p:spPr>
          <a:xfrm>
            <a:off x="540023" y="879500"/>
            <a:ext cx="8063954" cy="3811786"/>
          </a:xfrm>
          <a:prstGeom prst="roundRect">
            <a:avLst>
              <a:gd name="adj" fmla="val 4080"/>
            </a:avLst>
          </a:prstGeom>
          <a:solidFill>
            <a:srgbClr val="171528"/>
          </a:solidFill>
          <a:ln/>
        </p:spPr>
      </p:sp>
      <p:sp>
        <p:nvSpPr>
          <p:cNvPr id="4" name="Shape 2"/>
          <p:cNvSpPr/>
          <p:nvPr/>
        </p:nvSpPr>
        <p:spPr>
          <a:xfrm>
            <a:off x="534888" y="879500"/>
            <a:ext cx="8074223" cy="3811786"/>
          </a:xfrm>
          <a:prstGeom prst="roundRect">
            <a:avLst>
              <a:gd name="adj" fmla="val 408"/>
            </a:avLst>
          </a:prstGeom>
          <a:solidFill>
            <a:srgbClr val="171528"/>
          </a:solidFill>
          <a:ln/>
        </p:spPr>
      </p:sp>
      <p:sp>
        <p:nvSpPr>
          <p:cNvPr id="5" name="Text 3"/>
          <p:cNvSpPr/>
          <p:nvPr/>
        </p:nvSpPr>
        <p:spPr>
          <a:xfrm>
            <a:off x="664443" y="983159"/>
            <a:ext cx="7815114" cy="3604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1000"/>
              </a:lnSpc>
              <a:buNone/>
            </a:pPr>
            <a:r>
              <a:rPr lang="he-IL" altLang="en-US" sz="800" dirty="0">
                <a:solidFill>
                  <a:srgbClr val="8B949E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קומפרסיה עם CompressionStream
async function compressData(data) {
 const blob = new Blob([JSON.stringify(data)]);
 const stream = blob.stream()
 .pipeThrough(new CompressionStream('gzip'));
 const compressedBlob = await new Response(stream).blob();
 return await compressedBlob.arrayBuffer();
}
// שמירה ב-localForage
async function saveDiet(windowId, dietData) {
 const compressed = await compressData(dietData);
 await localForage.setItem(`diet_${windowId}`, compressed);
}
// שליפה ו-decompress
async function loadDiet(windowId) {
 const buffer = await localForage.getItem(`diet_${windowId}`);
 if (!buffer) return null;
 const blob = new Blob([buffer]);
 const stream = blob.stream()
 .pipeThrough(new DecompressionStream('gzip'));
 const text = await new Response(stream).text();
 return JSON.parse(text);
}
</a:t>
            </a:r>
            <a:endParaRPr lang="he-IL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647477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תבנית האחסון: windowId : Data</a:t>
            </a:r>
            <a:endParaRPr lang="he-IL" sz="2700" dirty="0"/>
          </a:p>
        </p:txBody>
      </p:sp>
      <p:sp>
        <p:nvSpPr>
          <p:cNvPr id="5" name="Shape 2"/>
          <p:cNvSpPr/>
          <p:nvPr/>
        </p:nvSpPr>
        <p:spPr>
          <a:xfrm>
            <a:off x="3969023" y="1736154"/>
            <a:ext cx="4634954" cy="2759869"/>
          </a:xfrm>
          <a:prstGeom prst="roundRect">
            <a:avLst>
              <a:gd name="adj" fmla="val 838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86500" y="1755204"/>
            <a:ext cx="2298427" cy="1607790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6440760" y="1909465"/>
            <a:ext cx="198990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המפתח (Key)</a:t>
            </a:r>
            <a:endParaRPr lang="he-IL" sz="1350" dirty="0"/>
          </a:p>
        </p:txBody>
      </p:sp>
      <p:sp>
        <p:nvSpPr>
          <p:cNvPr id="8" name="Text 5"/>
          <p:cNvSpPr/>
          <p:nvPr/>
        </p:nvSpPr>
        <p:spPr>
          <a:xfrm>
            <a:off x="6440760" y="2221111"/>
            <a:ext cx="1989906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${windowId}</a:t>
            </a:r>
            <a:endParaRPr lang="he-IL" sz="1200" dirty="0"/>
          </a:p>
          <a:p>
            <a:pPr rtl="1" algn="l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מזהה ייחודי לטאב — מבטיח בידוד בין טאבים שונים</a:t>
            </a:r>
            <a:endParaRPr lang="he-IL" sz="1200" dirty="0"/>
          </a:p>
        </p:txBody>
      </p:sp>
      <p:sp>
        <p:nvSpPr>
          <p:cNvPr id="9" name="Shape 6"/>
          <p:cNvSpPr/>
          <p:nvPr/>
        </p:nvSpPr>
        <p:spPr>
          <a:xfrm>
            <a:off x="3988073" y="1755204"/>
            <a:ext cx="2298427" cy="1607790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0" name="Shape 7"/>
          <p:cNvSpPr/>
          <p:nvPr/>
        </p:nvSpPr>
        <p:spPr>
          <a:xfrm>
            <a:off x="3988073" y="1755204"/>
            <a:ext cx="19050" cy="1607790"/>
          </a:xfrm>
          <a:prstGeom prst="roundRect">
            <a:avLst>
              <a:gd name="adj" fmla="val 1215000"/>
            </a:avLst>
          </a:prstGeom>
          <a:solidFill>
            <a:srgbClr val="0FC3C0"/>
          </a:solidFill>
          <a:ln/>
        </p:spPr>
      </p:sp>
      <p:sp>
        <p:nvSpPr>
          <p:cNvPr id="11" name="Text 8"/>
          <p:cNvSpPr/>
          <p:nvPr/>
        </p:nvSpPr>
        <p:spPr>
          <a:xfrm>
            <a:off x="4142333" y="1909465"/>
            <a:ext cx="198990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הערך (Value)</a:t>
            </a:r>
            <a:endParaRPr lang="he-IL" sz="1350" dirty="0"/>
          </a:p>
        </p:txBody>
      </p:sp>
      <p:sp>
        <p:nvSpPr>
          <p:cNvPr id="12" name="Text 9"/>
          <p:cNvSpPr/>
          <p:nvPr/>
        </p:nvSpPr>
        <p:spPr>
          <a:xfrm>
            <a:off x="4142333" y="2221111"/>
            <a:ext cx="198990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ArrayBuffer</a:t>
            </a:r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של הData הדחוסה</a:t>
            </a:r>
            <a:endParaRPr lang="he-IL" sz="1200" dirty="0"/>
          </a:p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נשמר כ-binary לאחר קומפרסיה עם gzip</a:t>
            </a:r>
            <a:endParaRPr lang="he-IL" sz="1200" dirty="0"/>
          </a:p>
        </p:txBody>
      </p:sp>
      <p:sp>
        <p:nvSpPr>
          <p:cNvPr id="13" name="Shape 10"/>
          <p:cNvSpPr/>
          <p:nvPr/>
        </p:nvSpPr>
        <p:spPr>
          <a:xfrm>
            <a:off x="3988073" y="3362995"/>
            <a:ext cx="4596854" cy="1113979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4" name="Shape 11"/>
          <p:cNvSpPr/>
          <p:nvPr/>
        </p:nvSpPr>
        <p:spPr>
          <a:xfrm>
            <a:off x="3988073" y="3362995"/>
            <a:ext cx="4596854" cy="19050"/>
          </a:xfrm>
          <a:prstGeom prst="roundRect">
            <a:avLst>
              <a:gd name="adj" fmla="val 1215000"/>
            </a:avLst>
          </a:prstGeom>
          <a:solidFill>
            <a:srgbClr val="1D8DCD"/>
          </a:solidFill>
          <a:ln/>
        </p:spPr>
      </p:sp>
      <p:sp>
        <p:nvSpPr>
          <p:cNvPr id="15" name="Text 12"/>
          <p:cNvSpPr/>
          <p:nvPr/>
        </p:nvSpPr>
        <p:spPr>
          <a:xfrm>
            <a:off x="4142333" y="3517255"/>
            <a:ext cx="4288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זרימת העבודה</a:t>
            </a:r>
            <a:endParaRPr lang="he-IL" sz="1350" dirty="0"/>
          </a:p>
        </p:txBody>
      </p:sp>
      <p:sp>
        <p:nvSpPr>
          <p:cNvPr id="16" name="Text 13"/>
          <p:cNvSpPr/>
          <p:nvPr/>
        </p:nvSpPr>
        <p:spPr>
          <a:xfrm>
            <a:off x="4142333" y="3828901"/>
            <a:ext cx="428833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קבלת Data → המרה → שמירה</a:t>
            </a:r>
            <a:endParaRPr lang="he-IL" sz="1200" dirty="0"/>
          </a:p>
          <a:p>
            <a:pPr rtl="1" algn="r" indent="0" marL="0">
              <a:lnSpc>
                <a:spcPct val="133000"/>
              </a:lnSpc>
              <a:buNone/>
            </a:pPr>
            <a:r>
              <a:rPr lang="he-IL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רענון → שליפה → Decompress → שימוש</a:t>
            </a:r>
            <a:endParaRPr lang="he-IL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5173"/>
            <a:ext cx="8063954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סיכום — מה עשינו כאן</a:t>
            </a:r>
            <a:endParaRPr lang="he-IL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489" y="749945"/>
            <a:ext cx="6270947" cy="28700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8425" y="2951011"/>
            <a:ext cx="1177322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טעינה מחדש</a:t>
            </a:r>
            <a:endParaRPr lang="he-IL" sz="1250" dirty="0"/>
          </a:p>
        </p:txBody>
      </p:sp>
      <p:sp>
        <p:nvSpPr>
          <p:cNvPr id="5" name="Text 2"/>
          <p:cNvSpPr/>
          <p:nvPr/>
        </p:nvSpPr>
        <p:spPr>
          <a:xfrm>
            <a:off x="3212173" y="2951011"/>
            <a:ext cx="1177321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שמירה</a:t>
            </a:r>
            <a:endParaRPr lang="he-IL" sz="1250" dirty="0"/>
          </a:p>
        </p:txBody>
      </p:sp>
      <p:sp>
        <p:nvSpPr>
          <p:cNvPr id="6" name="Text 3"/>
          <p:cNvSpPr/>
          <p:nvPr/>
        </p:nvSpPr>
        <p:spPr>
          <a:xfrm>
            <a:off x="4687856" y="2951011"/>
            <a:ext cx="1177322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דחיסה</a:t>
            </a:r>
            <a:endParaRPr lang="he-IL" sz="1250" dirty="0"/>
          </a:p>
        </p:txBody>
      </p:sp>
      <p:sp>
        <p:nvSpPr>
          <p:cNvPr id="7" name="Text 4"/>
          <p:cNvSpPr/>
          <p:nvPr/>
        </p:nvSpPr>
        <p:spPr>
          <a:xfrm>
            <a:off x="6195796" y="2951011"/>
            <a:ext cx="1177322" cy="20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he-IL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קבלת דיאטה</a:t>
            </a:r>
            <a:endParaRPr lang="he-IL" sz="1250" dirty="0"/>
          </a:p>
        </p:txBody>
      </p:sp>
      <p:sp>
        <p:nvSpPr>
          <p:cNvPr id="8" name="Text 5"/>
          <p:cNvSpPr/>
          <p:nvPr/>
        </p:nvSpPr>
        <p:spPr>
          <a:xfrm>
            <a:off x="82823" y="3668911"/>
            <a:ext cx="8521154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הפתרון מבטיח שה DATA תישמר ותשוחזר בכל רענון — ללא תלות בחלון השולח.</a:t>
            </a:r>
            <a:endParaRPr lang="he-IL" sz="600" dirty="0"/>
          </a:p>
        </p:txBody>
      </p:sp>
      <p:sp>
        <p:nvSpPr>
          <p:cNvPr id="9" name="Shape 6"/>
          <p:cNvSpPr/>
          <p:nvPr/>
        </p:nvSpPr>
        <p:spPr>
          <a:xfrm>
            <a:off x="4593803" y="3818260"/>
            <a:ext cx="4010174" cy="423267"/>
          </a:xfrm>
          <a:prstGeom prst="roundRect">
            <a:avLst>
              <a:gd name="adj" fmla="val 29051"/>
            </a:avLst>
          </a:prstGeom>
          <a:solidFill>
            <a:srgbClr val="0A081B"/>
          </a:solidFill>
          <a:ln w="9525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85258" y="3909715"/>
            <a:ext cx="3827264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אחסון</a:t>
            </a:r>
            <a:endParaRPr lang="he-IL" sz="700" dirty="0"/>
          </a:p>
        </p:txBody>
      </p:sp>
      <p:sp>
        <p:nvSpPr>
          <p:cNvPr id="11" name="Text 8"/>
          <p:cNvSpPr/>
          <p:nvPr/>
        </p:nvSpPr>
        <p:spPr>
          <a:xfrm>
            <a:off x="4685258" y="4049688"/>
            <a:ext cx="3827264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IndexedDB דרך localForage</a:t>
            </a:r>
            <a:endParaRPr lang="he-IL" sz="600" dirty="0"/>
          </a:p>
        </p:txBody>
      </p:sp>
      <p:sp>
        <p:nvSpPr>
          <p:cNvPr id="12" name="Shape 9"/>
          <p:cNvSpPr/>
          <p:nvPr/>
        </p:nvSpPr>
        <p:spPr>
          <a:xfrm>
            <a:off x="540023" y="3818260"/>
            <a:ext cx="4010248" cy="423267"/>
          </a:xfrm>
          <a:prstGeom prst="roundRect">
            <a:avLst>
              <a:gd name="adj" fmla="val 29051"/>
            </a:avLst>
          </a:prstGeom>
          <a:solidFill>
            <a:srgbClr val="0A081B"/>
          </a:solidFill>
          <a:ln w="9525">
            <a:solidFill>
              <a:srgbClr val="29D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1478" y="3909715"/>
            <a:ext cx="3827338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המרה</a:t>
            </a:r>
            <a:endParaRPr lang="he-IL" sz="700" dirty="0"/>
          </a:p>
        </p:txBody>
      </p:sp>
      <p:sp>
        <p:nvSpPr>
          <p:cNvPr id="14" name="Text 11"/>
          <p:cNvSpPr/>
          <p:nvPr/>
        </p:nvSpPr>
        <p:spPr>
          <a:xfrm>
            <a:off x="631478" y="4049688"/>
            <a:ext cx="3827338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CompressionStream API מובנה</a:t>
            </a:r>
            <a:endParaRPr lang="he-IL" sz="600" dirty="0"/>
          </a:p>
        </p:txBody>
      </p:sp>
      <p:sp>
        <p:nvSpPr>
          <p:cNvPr id="15" name="Shape 12"/>
          <p:cNvSpPr/>
          <p:nvPr/>
        </p:nvSpPr>
        <p:spPr>
          <a:xfrm>
            <a:off x="4593803" y="4285059"/>
            <a:ext cx="4010174" cy="423267"/>
          </a:xfrm>
          <a:prstGeom prst="roundRect">
            <a:avLst>
              <a:gd name="adj" fmla="val 29051"/>
            </a:avLst>
          </a:prstGeom>
          <a:solidFill>
            <a:srgbClr val="0A081B"/>
          </a:solidFill>
          <a:ln w="9525">
            <a:solidFill>
              <a:srgbClr val="37A7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5258" y="4376514"/>
            <a:ext cx="3827264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🔑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מפתח</a:t>
            </a:r>
            <a:endParaRPr lang="he-IL" sz="700" dirty="0"/>
          </a:p>
        </p:txBody>
      </p:sp>
      <p:sp>
        <p:nvSpPr>
          <p:cNvPr id="17" name="Text 14"/>
          <p:cNvSpPr/>
          <p:nvPr/>
        </p:nvSpPr>
        <p:spPr>
          <a:xfrm>
            <a:off x="4685258" y="4516487"/>
            <a:ext cx="3827264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${windowId}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540023" y="4285059"/>
            <a:ext cx="4010248" cy="423267"/>
          </a:xfrm>
          <a:prstGeom prst="roundRect">
            <a:avLst>
              <a:gd name="adj" fmla="val 29051"/>
            </a:avLst>
          </a:prstGeom>
          <a:solidFill>
            <a:srgbClr val="0A081B"/>
          </a:solidFill>
          <a:ln w="9525">
            <a:solidFill>
              <a:srgbClr val="0912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1478" y="4376514"/>
            <a:ext cx="3827338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rtl="1" algn="r" indent="0" marL="0">
              <a:lnSpc>
                <a:spcPct val="104000"/>
              </a:lnSpc>
              <a:buNone/>
            </a:pPr>
            <a:r>
              <a:rPr lang="he-IL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תוצאה</a:t>
            </a:r>
            <a:endParaRPr lang="he-IL" sz="700" dirty="0"/>
          </a:p>
        </p:txBody>
      </p:sp>
      <p:sp>
        <p:nvSpPr>
          <p:cNvPr id="20" name="Text 17"/>
          <p:cNvSpPr/>
          <p:nvPr/>
        </p:nvSpPr>
        <p:spPr>
          <a:xfrm>
            <a:off x="631478" y="4516487"/>
            <a:ext cx="3827338" cy="10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2000"/>
              </a:lnSpc>
              <a:buNone/>
            </a:pPr>
            <a:r>
              <a:rPr lang="he-IL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רענון ללא אובדן נתונים</a:t>
            </a:r>
            <a:endParaRPr lang="he-IL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2026-07-16T19:15:52Z</dcterms:created>
  <dcterms:modified xsi:type="dcterms:W3CDTF">2026-07-16T19:15:52Z</dcterms:modified>
</cp:coreProperties>
</file>