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103120"/>
            <a:ext cx="5943600" cy="5943600"/>
          </a:xfrm>
          <a:prstGeom prst="ellipse">
            <a:avLst/>
          </a:prstGeom>
          <a:solidFill>
            <a:srgbClr val="134074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97112" y="3931920"/>
            <a:ext cx="5029200" cy="5029200"/>
          </a:xfrm>
          <a:prstGeom prst="ellipse">
            <a:avLst/>
          </a:prstGeom>
          <a:solidFill>
            <a:srgbClr val="00B4A6">
              <a:alpha val="2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233172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מ-NGINX ל-API Gateway אמיתי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52044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00B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השוואת טכנולוגיות Gateway: APISIX · Kong · Kong Enterprise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71516" y="4224528"/>
            <a:ext cx="1645920" cy="0"/>
          </a:xfrm>
          <a:prstGeom prst="line">
            <a:avLst/>
          </a:prstGeom>
          <a:noFill/>
          <a:ln w="15875">
            <a:solidFill>
              <a:srgbClr val="3E5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43484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B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מסמך המלצה טכנולוגית  ·  ספטמבר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למה לעבור מ-NGINX ל-Gateway אמיתי?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קובץ NGINX סטטי נתן מענה בהתחלה, אך אינו נותן מענה לצרכי ארגון גדלים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07424" y="1920240"/>
            <a:ext cx="2532888" cy="3566160"/>
          </a:xfrm>
          <a:prstGeom prst="roundRect">
            <a:avLst>
              <a:gd name="adj" fmla="val 3249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2388" y="2194560"/>
            <a:ext cx="822960" cy="822960"/>
          </a:xfrm>
          <a:prstGeom prst="ellipse">
            <a:avLst/>
          </a:prstGeom>
          <a:solidFill>
            <a:srgbClr val="13407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962388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9272016" y="32918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קונפיגורציה סטטית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290304" y="384048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כל שינוי ב-Routing או במדיניות דורש עריכת קובץ, בדיקה ו-reload ידני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920240"/>
            <a:ext cx="2532888" cy="3566160"/>
          </a:xfrm>
          <a:prstGeom prst="roundRect">
            <a:avLst>
              <a:gd name="adj" fmla="val 3249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109460" y="2194560"/>
            <a:ext cx="822960" cy="82296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10946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32918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מנגנון Plugins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437376" y="384048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אימות, Rate Limiting, Logging ו-Transformations נבנים ונתחזקים ידנית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401568" y="1920240"/>
            <a:ext cx="2532888" cy="3566160"/>
          </a:xfrm>
          <a:prstGeom prst="roundRect">
            <a:avLst>
              <a:gd name="adj" fmla="val 3249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56532" y="2194560"/>
            <a:ext cx="822960" cy="82296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256532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3566160" y="32918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נראות מוגבלת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84448" y="384048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Analytics, Metrics או ניטור תעבורה מובנים ברמת ה-Gateway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1920240"/>
            <a:ext cx="2532888" cy="3566160"/>
          </a:xfrm>
          <a:prstGeom prst="roundRect">
            <a:avLst>
              <a:gd name="adj" fmla="val 3249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403604" y="2194560"/>
            <a:ext cx="822960" cy="822960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1403604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" y="3291840"/>
            <a:ext cx="22037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אין Self-Service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840480"/>
            <a:ext cx="21671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צוותי מוצר לא יכולים לנהל את ה-API-ים שלהם בעצמם, הכל עובר דרך DevOps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Apache APISIX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מבוסס Nginx + LuaJIT ו-etcd לניהול קונפיגורציה, בקוד פתוח מלא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77356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4492" y="2217420"/>
            <a:ext cx="502920" cy="5029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4492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51676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יתרונות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97396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ביצועים גבוהים מאוד, בזכות מנוע LuaJIT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ארכיטקטורה Cloud-Native התומכת ב-Kubernetes באופן טבעי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קוד פתוח לחלוטין (Apache License) — ללא עלות רישוי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קהילה פעילה וקצב פיתוח ושחרור גרסאות מהיר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22174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65776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חסרונות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פחות נפוץ בשוק הארגוני המקומי — קשה יותר לגייס ידע ומומחיות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תיעוד ואקוסיסטם Plugins חלקיים יחסית ל-Kong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דורש רכיב תשתית נוסף (etcd) לניהול הקונפיגורציה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גרסת Enterprise רשמית עם תמיכה מסחרית מלאה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Gateway — קוד פתוח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מבוסס Nginx + OpenResty, אחד ה-API Gateways הנפוצים והבשלים בעולם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77356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4492" y="2217420"/>
            <a:ext cx="502920" cy="5029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4492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51676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יתרונות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97396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התפוצה הרחבה ביותר בשוק — קהילה גדולה ותיעוד מקיף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מגוון עצום של Plugins מוכנים: Auth, Rate Limiting, Logging ועוד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תמיכה מצוינת ב-Kubernetes דרך Kong Ingress Controller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אקוסיסטם עשיר של אינטגרציות וכלי צד שלישי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22174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65776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חסרונות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גרסת הקוד הפתוח חסרה פיצ'רים ארגוניים: RBAC, Dev Portal ועוד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אין ממשק ניהול גרפי (GUI) — ניהול רק דרך Admin API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ביצועים טובים, אך לרוב מעט מתחת ל-APISIX בבנצ'מרקים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ניהול מבוסס Admin API / מסד נתונים דורש מומחיות תפעולית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Enterprise (Konnect)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השכבה המסחרית של Kong — ניהול, אבטחה ותמיכה ברמה ארגונית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25968" y="18745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31680" y="20071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31680" y="20071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63128" y="25877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RBAC וניהול הרשאות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90560" y="29169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בקרת גישה מדורגת לפי תפקידים וצוותים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37304" y="18745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843016" y="20071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843016" y="20071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474464" y="25877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Manager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01896" y="29169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ניהול גרפי (GUI) מלא ל-Routes, Services ו-Plugins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18745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54352" y="20071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054352" y="20071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25877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Portal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9169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פורטל self-service למפתחים פנימיים וחיצוניים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25968" y="39319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31680" y="40645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631680" y="4064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63128" y="46451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Vitals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8290560" y="49743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וניטור תעבורה בזמן אמת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7304" y="39319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43016" y="40645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843016" y="4064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474464" y="46451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Plugins מתקדמים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4501896" y="49743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OAuth2, GraphQL, mTLS ועוד, עם תמיכה מסחרית ו-SLA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3931920"/>
            <a:ext cx="3514344" cy="1783080"/>
          </a:xfrm>
          <a:prstGeom prst="roundRect">
            <a:avLst>
              <a:gd name="adj" fmla="val 4103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54352" y="4064508"/>
            <a:ext cx="502920" cy="50292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2054352" y="40645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685800" y="4645152"/>
            <a:ext cx="3240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פריסה גמישה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713232" y="4974336"/>
            <a:ext cx="31851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0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On-Prem, Hybrid או Konnect כשירות SaaS מנוהל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5897880"/>
            <a:ext cx="11091672" cy="548640"/>
          </a:xfrm>
          <a:prstGeom prst="roundRect">
            <a:avLst>
              <a:gd name="adj" fmla="val 13333"/>
            </a:avLst>
          </a:prstGeom>
          <a:solidFill>
            <a:srgbClr val="FBEFE9"/>
          </a:solidFill>
          <a:ln w="12700">
            <a:solidFill>
              <a:srgbClr val="F0D3C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2960" y="5897880"/>
            <a:ext cx="105430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9C4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לשקול: עלות רישוי משמעותית ותלות בספק (Vendor Lock-in)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דרכי ניהול: GUI מול ניהול ידני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Kong Manager (ממשק גרפי) לעומת ניהול ידני דרך Admin API / קבצי הצהרה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277356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4492" y="2217420"/>
            <a:ext cx="502920" cy="502920"/>
          </a:xfrm>
          <a:prstGeom prst="ellipse">
            <a:avLst/>
          </a:prstGeom>
          <a:solidFill>
            <a:srgbClr val="1E8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4492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551676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1E8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Kong Manager — GUI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597396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ממשק גרפי נוח לניהול Routes, Services ו-Plugins בלחיצות עכבר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זמין רק ב-Kong Enterprise / Konnect — לא קיים בקוד הפתוח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לצוותים לא-טכניים ולתרחישי Self-Service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פחות טבעי לזרימת עבודה מבוססת GitOps / IaC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62956" cy="4160520"/>
          </a:xfrm>
          <a:prstGeom prst="roundRect">
            <a:avLst>
              <a:gd name="adj" fmla="val 1978"/>
            </a:avLst>
          </a:prstGeom>
          <a:solidFill>
            <a:srgbClr val="F7F9FB"/>
          </a:solidFill>
          <a:ln w="12700">
            <a:solidFill>
              <a:srgbClr val="E1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65776" y="2217420"/>
            <a:ext cx="502920" cy="50292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65776" y="22174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2194560"/>
            <a:ext cx="41285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ניהול ידני — Admin API / decK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880360"/>
            <a:ext cx="4722876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שליטה מלאה דרך קבצי YAML/JSON (Declarative Config) או REST API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מתאים מצוין ל-CI/CD ול-GitOps — היסטוריית שינויים מלאה ב-Git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עקומת למידה תלולה יותר, דורש היכרות עם הכלים</a:t>
            </a:r>
            <a:endParaRPr lang="en-US" sz="1350" dirty="0"/>
          </a:p>
          <a:p>
            <a:pPr rtl="1" algn="r"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–"/>
            </a:pPr>
            <a:r>
              <a:rPr lang="en-US" sz="1350" dirty="0">
                <a:solidFill>
                  <a:srgbClr val="162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דורש דיסציפלינה תפעולית של Infrastructure as Code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162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השוואה מסכמת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שלוש האופציות זו מול זו, לפי הקריטריונים המרכזיים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091672" cy="4206240"/>
        </p:xfrm>
        <a:graphic>
          <a:graphicData uri="http://schemas.openxmlformats.org/drawingml/2006/table">
            <a:tbl>
              <a:tblPr/>
              <a:tblGrid>
                <a:gridCol w="2782824"/>
                <a:gridCol w="2782824"/>
                <a:gridCol w="2782824"/>
                <a:gridCol w="2743200"/>
              </a:tblGrid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Kong Enterprise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Kong — קוד פתוח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APISIX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קריטריון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בתשלום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חינמי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חינמי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עלות רישוי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יש — Kong Manager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אין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אין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ממשק ניהול גרפי (GUI)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מלא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לא זמין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מוגבל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RBAC / הרשאות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יש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לא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Portal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טובים מאוד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טובים מאוד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מעולים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ביצועים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מלאה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קהילתית בלבד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קהילתית בלבד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תמיכה מסחרית / SLA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גבוהה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גבוהה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dirty="0">
                          <a:solidFill>
                            <a:srgbClr val="5B6B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בינונית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1620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בשלות בשוק המקומי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-2194560"/>
            <a:ext cx="5486400" cy="5486400"/>
          </a:xfrm>
          <a:prstGeom prst="ellipse">
            <a:avLst/>
          </a:prstGeom>
          <a:solidFill>
            <a:srgbClr val="134074">
              <a:alpha val="4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המלצה וצעדים הבאים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91672" cy="1005840"/>
          </a:xfrm>
          <a:prstGeom prst="roundRect">
            <a:avLst>
              <a:gd name="adj" fmla="val 8182"/>
            </a:avLst>
          </a:prstGeom>
          <a:solidFill>
            <a:srgbClr val="134074"/>
          </a:solidFill>
          <a:ln/>
        </p:spPr>
      </p:sp>
      <p:sp>
        <p:nvSpPr>
          <p:cNvPr id="5" name="Shape 3"/>
          <p:cNvSpPr/>
          <p:nvPr/>
        </p:nvSpPr>
        <p:spPr>
          <a:xfrm>
            <a:off x="10794492" y="1577340"/>
            <a:ext cx="685800" cy="68580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0794492" y="15773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1417320"/>
            <a:ext cx="93085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מומלץ לאמץ את Kong Enterprise כ-Gateway המרכזי של הפרויקט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56448" y="2788920"/>
            <a:ext cx="3483864" cy="3200400"/>
          </a:xfrm>
          <a:prstGeom prst="roundRect">
            <a:avLst>
              <a:gd name="adj" fmla="val 2571"/>
            </a:avLst>
          </a:prstGeom>
          <a:solidFill>
            <a:srgbClr val="132C56"/>
          </a:solidFill>
          <a:ln w="12700">
            <a:solidFill>
              <a:srgbClr val="23437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0" y="308610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509760" y="3086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8339328" y="4160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הרצת POC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8385048" y="46634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פיילוט מבוקר בסביבת Staging למשך 2–3 שבועות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52544" y="2788920"/>
            <a:ext cx="3483864" cy="3200400"/>
          </a:xfrm>
          <a:prstGeom prst="roundRect">
            <a:avLst>
              <a:gd name="adj" fmla="val 2571"/>
            </a:avLst>
          </a:prstGeom>
          <a:solidFill>
            <a:srgbClr val="132C56"/>
          </a:solidFill>
          <a:ln w="12700">
            <a:solidFill>
              <a:srgbClr val="23437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05856" y="308610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705856" y="3086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4535424" y="4160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מדיניות ניהול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581144" y="46634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שילוב Declarative Config (GitOps) לצד Kong Manager להטמעה הדרגתית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3483864" cy="3200400"/>
          </a:xfrm>
          <a:prstGeom prst="roundRect">
            <a:avLst>
              <a:gd name="adj" fmla="val 2571"/>
            </a:avLst>
          </a:prstGeom>
          <a:solidFill>
            <a:srgbClr val="132C56"/>
          </a:solidFill>
          <a:ln w="12700">
            <a:solidFill>
              <a:srgbClr val="23437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1952" y="3086100"/>
            <a:ext cx="777240" cy="777240"/>
          </a:xfrm>
          <a:prstGeom prst="ellipse">
            <a:avLst/>
          </a:prstGeom>
          <a:solidFill>
            <a:srgbClr val="00B4A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01952" y="30861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4160520"/>
            <a:ext cx="3118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מיגרציה הדרגתית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3026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buNone/>
            </a:pPr>
            <a:r>
              <a:rPr lang="en-US" sz="12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מעבר שירות-אחר-שירות מ-NGINX, ללא הפסקת שירות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11365992" y="63550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A9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2026-09-14T13:48:26Z</dcterms:created>
  <dcterms:modified xsi:type="dcterms:W3CDTF">2026-09-14T13:48:26Z</dcterms:modified>
</cp:coreProperties>
</file>