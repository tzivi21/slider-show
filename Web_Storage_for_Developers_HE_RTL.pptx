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פתיחה: שלוש האפשרויות נראות דומות כי כולן חיות בדפדפן, אבל הן שונות מאוד בהיקף, ממשק ושימוש נכון.</a:t>
            </a:r>
          </a:p>
          <a:p>
            <a:endParaRPr/>
          </a:p>
          <a:p>
            <a:r>
              <a:t>[Sources]</a:t>
            </a:r>
          </a:p>
          <a:p>
            <a:r>
              <a:t>MDN Web Docs — Web Storage API, Window.sessionStorage, Window.localStorage, IndexedDB API. https://developer.mozilla.org/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מסגור: נבחן את שלושת המנגנונים דרך lifespan, scope, נפח ומבנה נתונים. אין מנגנון 'הכי טוב'—יש התאמה.</a:t>
            </a:r>
          </a:p>
          <a:p>
            <a:endParaRPr/>
          </a:p>
          <a:p>
            <a:r>
              <a:t>[Sources]</a:t>
            </a:r>
          </a:p>
          <a:p>
            <a:r>
              <a:t>MDN Web Docs — Web Storage API, Window.sessionStorage, Window.localStorage, IndexedDB API. https://developer.mozilla.org/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sessionStorage קשור ל-top-level browsing context: אותו origin, אך לכל טאב מאגר נפרד. הוא טוב ל-UI state שאינו צריך לשרוד מעבר לטאב.</a:t>
            </a:r>
          </a:p>
          <a:p>
            <a:endParaRPr/>
          </a:p>
          <a:p>
            <a:r>
              <a:t>[Sources]</a:t>
            </a:r>
          </a:p>
          <a:p>
            <a:r>
              <a:t>MDN Web Docs — Web Storage API, Window.sessionStorage, Window.localStorage, IndexedDB API. https://developer.mozilla.org/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localStorage נשמר per origin ללא תאריך תפוגה מובנה. אירוע storage מגיע למסמכים אחרים מאותו origin, לא לאותו חלון שביצע את השינוי. ה-API סינכרוני.</a:t>
            </a:r>
          </a:p>
          <a:p>
            <a:endParaRPr/>
          </a:p>
          <a:p>
            <a:r>
              <a:t>[Sources]</a:t>
            </a:r>
          </a:p>
          <a:p>
            <a:r>
              <a:t>MDN Web Docs — Web Storage API, Window.sessionStorage, Window.localStorage, IndexedDB API. https://developer.mozilla.org/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IndexedDB הוא מסד נתונים טרנזקציוני בדפדפן. הוא מאחסן structured-cloneable data ו-Blobs, מאפשר אינדקסים וממשק אסינכרוני.</a:t>
            </a:r>
          </a:p>
          <a:p>
            <a:endParaRPr/>
          </a:p>
          <a:p>
            <a:r>
              <a:t>[Sources]</a:t>
            </a:r>
          </a:p>
          <a:p>
            <a:r>
              <a:t>MDN Web Docs — Web Storage API, Window.sessionStorage, Window.localStorage, IndexedDB API. https://developer.mozilla.org/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השוואה: שימו לב שהבחירה אינה רק 'כמה נשמר', אלא גם סוג הנתונים ודפוס הגישה. Web Storage הוא key-value strings; IndexedDB הוא database אסינכרוני.</a:t>
            </a:r>
          </a:p>
          <a:p>
            <a:endParaRPr/>
          </a:p>
          <a:p>
            <a:r>
              <a:t>[Sources]</a:t>
            </a:r>
          </a:p>
          <a:p>
            <a:r>
              <a:t>MDN Web Docs — Web Storage API, Window.sessionStorage, Window.localStorage, IndexedDB API. https://developer.mozilla.org/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סיכום בחירה: אם אין צורך בהישרדות מעבר לטאב—sessionStorage. אם כן והמידע קטן ופשוט—localStorage. אחרת, IndexedDB. תמיד בדקו גם רגישות וביצועים.</a:t>
            </a:r>
          </a:p>
          <a:p>
            <a:endParaRPr/>
          </a:p>
          <a:p>
            <a:r>
              <a:t>[Sources]</a:t>
            </a:r>
          </a:p>
          <a:p>
            <a:r>
              <a:t>MDN Web Docs — Web Storage API, Window.sessionStorage, Window.localStorage, IndexedDB API. https://developer.mozilla.org/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סיום: הדגישו אבטחה. Web Storage נגיש ל-JavaScript ולכן XSS הוא שיקול מרכזי. גם IndexedDB נגיש מאותו origin ולא מיועד לסודות. הבחירה הנכונה היא הספציפית והקטנה ביותר.</a:t>
            </a:r>
          </a:p>
          <a:p>
            <a:endParaRPr/>
          </a:p>
          <a:p>
            <a:r>
              <a:t>[Sources]</a:t>
            </a:r>
          </a:p>
          <a:p>
            <a:r>
              <a:t>MDN Web Docs — Web Storage API, Window.sessionStorage, Window.localStorage, IndexedDB API. https://developer.mozilla.org/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לבן 10">
            <a:extLst>
              <a:ext uri="{FF2B5EF4-FFF2-40B4-BE49-F238E27FC236}">
                <a16:creationId xmlns:a16="http://schemas.microsoft.com/office/drawing/2014/main" id="{4BB0C782-C173-4D64-93B7-B6F7240E72AE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5810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3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אחסון נתונים בדפדפן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C238C0DF-7835-4314-84D9-1C3314E4B68E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875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sessionStorage · localStorage · IndexedDB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3C1D9614-D318-491A-8DB5-B68A28F808D9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23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מדריך מעשי לבחירה נכונה של שכבת האחסון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95895A6E-4836-4225-9195-6723EF925775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49530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0678384E-6091-43C9-B1CC-431F2BE0D917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מצגת למפתחים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12D91981-EA45-4789-BB1C-214E6280BD84}"/>
              </a:ext>
            </a:extLst>
          </p:cNvPr>
          <p:cNvSpPr>
            <a:spLocks noGrp="1"/>
          </p:cNvSpPr>
          <p:nvPr/>
        </p:nvSpPr>
        <p:spPr>
          <a:xfrm>
            <a:off x="7239000" y="914400"/>
            <a:ext cx="3714750" cy="4381500"/>
          </a:xfrm>
          <a:prstGeom prst="roundRect">
            <a:avLst>
              <a:gd name="adj" fmla="val 2051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6D5B6F7C-B82C-4D6B-85BF-FCB4994BCD8B}"/>
              </a:ext>
            </a:extLst>
          </p:cNvPr>
          <p:cNvSpPr>
            <a:spLocks noGrp="1"/>
          </p:cNvSpPr>
          <p:nvPr/>
        </p:nvSpPr>
        <p:spPr>
          <a:xfrm>
            <a:off x="7848600" y="135255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TAB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6EBBFD7B-291A-465C-A44B-A7B762950CDA}"/>
              </a:ext>
            </a:extLst>
          </p:cNvPr>
          <p:cNvSpPr>
            <a:spLocks noGrp="1"/>
          </p:cNvSpPr>
          <p:nvPr/>
        </p:nvSpPr>
        <p:spPr>
          <a:xfrm>
            <a:off x="7620000" y="196215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3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sessionStorage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D72B3C40-BAF1-4717-A4FC-52869D95207F}"/>
              </a:ext>
            </a:extLst>
          </p:cNvPr>
          <p:cNvSpPr>
            <a:spLocks noGrp="1"/>
          </p:cNvSpPr>
          <p:nvPr/>
        </p:nvSpPr>
        <p:spPr>
          <a:xfrm>
            <a:off x="7620000" y="299085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325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localStorage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B7D8DDAC-6112-41FA-9B0F-F266E47DE3C7}"/>
              </a:ext>
            </a:extLst>
          </p:cNvPr>
          <p:cNvSpPr>
            <a:spLocks noGrp="1"/>
          </p:cNvSpPr>
          <p:nvPr/>
        </p:nvSpPr>
        <p:spPr>
          <a:xfrm>
            <a:off x="7620000" y="401955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3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IndexedDB</a:t>
            </a:r>
          </a:p>
        </p:txBody>
      </p:sp>
    </p:spTree>
    <p:extLst>
      <p:ext uri="{BB962C8B-B14F-4D97-AF65-F5344CB8AC3E}">
        <p14:creationId xmlns:p14="http://schemas.microsoft.com/office/powerpoint/2010/main" val="611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לבן 10">
            <a:extLst>
              <a:ext uri="{FF2B5EF4-FFF2-40B4-BE49-F238E27FC236}">
                <a16:creationId xmlns:a16="http://schemas.microsoft.com/office/drawing/2014/main" id="{49F6461E-E42D-4505-8205-EDC92C8CF19D}"/>
              </a:ext>
            </a:extLst>
          </p:cNvPr>
          <p:cNvSpPr>
            <a:spLocks noGrp="1"/>
          </p:cNvSpPr>
          <p:nvPr/>
        </p:nvSpPr>
        <p:spPr>
          <a:xfrm>
            <a:off x="7696200" y="4000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אחסון בדפדפן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507AAEA4-857A-413D-8852-FE8EE685DABC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הבחירה מתחילה בשתי שאלות פשוטות</a:t>
            </a:r>
          </a:p>
        </p:txBody>
      </p:sp>
      <p:sp>
        <p:nvSpPr>
          <p:cNvPr id="3" name="מלבן: פינות מעוגלות 2">
            <a:extLst>
              <a:ext uri="{FF2B5EF4-FFF2-40B4-BE49-F238E27FC236}">
                <a16:creationId xmlns:a16="http://schemas.microsoft.com/office/drawing/2014/main" id="{47A52E6D-C857-4180-91B5-3B2D7344CDCB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7F11F99C-E9E7-4EBC-A0C8-805CE3C47712}"/>
              </a:ext>
            </a:extLst>
          </p:cNvPr>
          <p:cNvSpPr>
            <a:spLocks noGrp="1"/>
          </p:cNvSpPr>
          <p:nvPr/>
        </p:nvSpPr>
        <p:spPr>
          <a:xfrm>
            <a:off x="10744200" y="6334125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5FE3A5F7-DE9A-40A4-B3FD-22327E7F1523}"/>
              </a:ext>
            </a:extLst>
          </p:cNvPr>
          <p:cNvSpPr>
            <a:spLocks noGrp="1"/>
          </p:cNvSpPr>
          <p:nvPr/>
        </p:nvSpPr>
        <p:spPr>
          <a:xfrm>
            <a:off x="1143000" y="2324100"/>
            <a:ext cx="447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כמה זמן הנתון צריך לשרוד?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B03B9484-F0EF-4246-A1C2-2AB640815C05}"/>
              </a:ext>
            </a:extLst>
          </p:cNvPr>
          <p:cNvSpPr>
            <a:spLocks noGrp="1"/>
          </p:cNvSpPr>
          <p:nvPr/>
        </p:nvSpPr>
        <p:spPr>
          <a:xfrm>
            <a:off x="1143000" y="2924175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רק לטאב הנוכחי, או גם אחרי סגירה ופתיחה?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CEE79FC4-D306-465F-8893-4B1D1B703A00}"/>
              </a:ext>
            </a:extLst>
          </p:cNvPr>
          <p:cNvSpPr>
            <a:spLocks noGrp="1"/>
          </p:cNvSpPr>
          <p:nvPr/>
        </p:nvSpPr>
        <p:spPr>
          <a:xfrm>
            <a:off x="6572250" y="2324100"/>
            <a:ext cx="447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23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איזה סוג נתונים נשמר?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C9ACE116-5A64-4A19-A0EA-71CBCEDEA32D}"/>
              </a:ext>
            </a:extLst>
          </p:cNvPr>
          <p:cNvSpPr>
            <a:spLocks noGrp="1"/>
          </p:cNvSpPr>
          <p:nvPr/>
        </p:nvSpPr>
        <p:spPr>
          <a:xfrm>
            <a:off x="6572250" y="2924175"/>
            <a:ext cx="4476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מחרוזות קטנות, או אובייקטים/קבצים בנפח משמעותי?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CCC7678C-FB75-4C73-9416-AFE285585D8E}"/>
              </a:ext>
            </a:extLst>
          </p:cNvPr>
          <p:cNvSpPr>
            <a:spLocks noGrp="1"/>
          </p:cNvSpPr>
          <p:nvPr/>
        </p:nvSpPr>
        <p:spPr>
          <a:xfrm>
            <a:off x="1143000" y="4114800"/>
            <a:ext cx="9906000" cy="285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34AEBCA5-016B-4F5D-BC3B-73A7961B5304}"/>
              </a:ext>
            </a:extLst>
          </p:cNvPr>
          <p:cNvSpPr>
            <a:spLocks noGrp="1"/>
          </p:cNvSpPr>
          <p:nvPr/>
        </p:nvSpPr>
        <p:spPr>
          <a:xfrm>
            <a:off x="1143000" y="4543425"/>
            <a:ext cx="9906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הכלל המנחה: שומרים רק כל עוד צריך, ובוחרים מנגנון שמתאים למבנה הנתונים.</a:t>
            </a:r>
          </a:p>
        </p:txBody>
      </p:sp>
    </p:spTree>
    <p:extLst>
      <p:ext uri="{BB962C8B-B14F-4D97-AF65-F5344CB8AC3E}">
        <p14:creationId xmlns:p14="http://schemas.microsoft.com/office/powerpoint/2010/main" val="1781662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לבן 12">
            <a:extLst>
              <a:ext uri="{FF2B5EF4-FFF2-40B4-BE49-F238E27FC236}">
                <a16:creationId xmlns:a16="http://schemas.microsoft.com/office/drawing/2014/main" id="{7FE79DC1-5247-4C80-8423-05FA7B4CCA2D}"/>
              </a:ext>
            </a:extLst>
          </p:cNvPr>
          <p:cNvSpPr>
            <a:spLocks noGrp="1"/>
          </p:cNvSpPr>
          <p:nvPr/>
        </p:nvSpPr>
        <p:spPr>
          <a:xfrm>
            <a:off x="7696200" y="4000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אחסון בדפדפן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932922FD-F3E1-478C-8166-DC518278EDC1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lvl="1" algn="r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 dirty="0" err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sessionStorage</a:t>
            </a:r>
            <a:r>
              <a:rPr sz="285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: </a:t>
            </a:r>
            <a:r>
              <a:rPr lang="he-IL" sz="285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מצב</a:t>
            </a:r>
            <a:r>
              <a:rPr sz="285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זמני</a:t>
            </a:r>
            <a:r>
              <a:rPr sz="285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של</a:t>
            </a:r>
            <a:r>
              <a:rPr sz="285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טאב</a:t>
            </a:r>
            <a:r>
              <a:rPr sz="285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יחיד</a:t>
            </a:r>
            <a:endParaRPr sz="2850" b="1" dirty="0">
              <a:solidFill>
                <a:srgbClr val="0F172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מלבן: פינות מעוגלות 2">
            <a:extLst>
              <a:ext uri="{FF2B5EF4-FFF2-40B4-BE49-F238E27FC236}">
                <a16:creationId xmlns:a16="http://schemas.microsoft.com/office/drawing/2014/main" id="{A9FAC6EA-2519-4B9B-A93A-FE7D9CE8032D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309B7B8E-3BCC-4707-8875-15E142D668F0}"/>
              </a:ext>
            </a:extLst>
          </p:cNvPr>
          <p:cNvSpPr>
            <a:spLocks noGrp="1"/>
          </p:cNvSpPr>
          <p:nvPr/>
        </p:nvSpPr>
        <p:spPr>
          <a:xfrm>
            <a:off x="10744200" y="6334125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6A9712A4-4E15-4ABE-91B3-18C0FB703A17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מה ייחודי בו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E0920F6F-1F19-422B-9F10-C96C1502408A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נפרד לכל טאב / חלון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359A001F-7035-4A9E-9588-49743B6DCCE4}"/>
              </a:ext>
            </a:extLst>
          </p:cNvPr>
          <p:cNvSpPr>
            <a:spLocks noGrp="1"/>
          </p:cNvSpPr>
          <p:nvPr/>
        </p:nvSpPr>
        <p:spPr>
          <a:xfrm>
            <a:off x="685800" y="292417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נמחק כשהטאב נסגר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13F94C9A-1F07-46AD-860E-04E129699BB0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6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475569"/>
                </a:solidFill>
                <a:latin typeface="Arial"/>
                <a:ea typeface="Arial"/>
                <a:cs typeface="Arial"/>
              </a:rPr>
              <a:t>ממשק</a:t>
            </a:r>
            <a:r>
              <a:rPr sz="1650" b="0" dirty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475569"/>
                </a:solidFill>
                <a:latin typeface="Arial"/>
                <a:ea typeface="Arial"/>
                <a:cs typeface="Arial"/>
              </a:rPr>
              <a:t>סינכרוני</a:t>
            </a:r>
            <a:r>
              <a:rPr sz="1650" b="0" dirty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475569"/>
                </a:solidFill>
                <a:latin typeface="Arial"/>
                <a:ea typeface="Arial"/>
                <a:cs typeface="Arial"/>
              </a:rPr>
              <a:t>של</a:t>
            </a:r>
            <a:r>
              <a:rPr sz="1650" b="0" dirty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475569"/>
                </a:solidFill>
                <a:latin typeface="Arial"/>
                <a:ea typeface="Arial"/>
                <a:cs typeface="Arial"/>
              </a:rPr>
              <a:t>מפתח־ער</a:t>
            </a:r>
            <a:r>
              <a:rPr lang="he-IL" sz="1650" b="0" dirty="0">
                <a:solidFill>
                  <a:srgbClr val="475569"/>
                </a:solidFill>
                <a:latin typeface="Arial"/>
                <a:ea typeface="Arial"/>
                <a:cs typeface="Arial"/>
              </a:rPr>
              <a:t>ך</a:t>
            </a:r>
            <a:endParaRPr sz="1650" b="0" dirty="0">
              <a:solidFill>
                <a:srgbClr val="47556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E2388DA4-E25B-42F6-98A5-7B0051B95ECA}"/>
              </a:ext>
            </a:extLst>
          </p:cNvPr>
          <p:cNvSpPr>
            <a:spLocks noGrp="1"/>
          </p:cNvSpPr>
          <p:nvPr/>
        </p:nvSpPr>
        <p:spPr>
          <a:xfrm>
            <a:off x="6477000" y="1933575"/>
            <a:ext cx="4762500" cy="2857500"/>
          </a:xfrm>
          <a:prstGeom prst="roundRect">
            <a:avLst>
              <a:gd name="adj" fmla="val 266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EA8F7E9E-9654-4489-8E3D-35B8E90AB1BD}"/>
              </a:ext>
            </a:extLst>
          </p:cNvPr>
          <p:cNvSpPr>
            <a:spLocks noGrp="1"/>
          </p:cNvSpPr>
          <p:nvPr/>
        </p:nvSpPr>
        <p:spPr>
          <a:xfrm>
            <a:off x="6800850" y="22479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דוגמה טובה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D1E2CD34-9F2B-4435-9779-6E2B0E616BA0}"/>
              </a:ext>
            </a:extLst>
          </p:cNvPr>
          <p:cNvSpPr>
            <a:spLocks noGrp="1"/>
          </p:cNvSpPr>
          <p:nvPr/>
        </p:nvSpPr>
        <p:spPr>
          <a:xfrm>
            <a:off x="6800850" y="2714625"/>
            <a:ext cx="40005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טיוטת טופס רב־שלבי</a:t>
            </a:r>
          </a:p>
          <a:p>
            <a:pPr algn="r"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פילטרים של מסך מסוים</a:t>
            </a:r>
          </a:p>
          <a:p>
            <a:pPr algn="r"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מצב ניווט קצר־חיים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75A4B262-8864-415E-A7F2-E2387B9A110D}"/>
              </a:ext>
            </a:extLst>
          </p:cNvPr>
          <p:cNvSpPr>
            <a:spLocks noGrp="1"/>
          </p:cNvSpPr>
          <p:nvPr/>
        </p:nvSpPr>
        <p:spPr>
          <a:xfrm>
            <a:off x="6477000" y="52578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57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לא מתאים לשיתוף בין טאבים.</a:t>
            </a:r>
          </a:p>
        </p:txBody>
      </p:sp>
    </p:spTree>
    <p:extLst>
      <p:ext uri="{BB962C8B-B14F-4D97-AF65-F5344CB8AC3E}">
        <p14:creationId xmlns:p14="http://schemas.microsoft.com/office/powerpoint/2010/main" val="966308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מלבן 11">
            <a:extLst>
              <a:ext uri="{FF2B5EF4-FFF2-40B4-BE49-F238E27FC236}">
                <a16:creationId xmlns:a16="http://schemas.microsoft.com/office/drawing/2014/main" id="{03373F29-7E30-445F-B5CB-BA1D41E41CC8}"/>
              </a:ext>
            </a:extLst>
          </p:cNvPr>
          <p:cNvSpPr>
            <a:spLocks noGrp="1"/>
          </p:cNvSpPr>
          <p:nvPr/>
        </p:nvSpPr>
        <p:spPr>
          <a:xfrm>
            <a:off x="7696200" y="4000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אחסון בדפדפן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1B7CA159-DF5F-47A0-A0A5-8CABB9E36EAD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 dirty="0" err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localStorage</a:t>
            </a:r>
            <a:r>
              <a:rPr sz="285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: </a:t>
            </a:r>
            <a:r>
              <a:rPr lang="he-IL" sz="285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נתונים</a:t>
            </a:r>
            <a:r>
              <a:rPr sz="285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קטנים</a:t>
            </a:r>
            <a:r>
              <a:rPr sz="285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שנשארים</a:t>
            </a:r>
            <a:r>
              <a:rPr sz="2850" b="1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במכשיר</a:t>
            </a:r>
            <a:endParaRPr sz="2850" b="1" dirty="0">
              <a:solidFill>
                <a:srgbClr val="0F172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מלבן: פינות מעוגלות 2">
            <a:extLst>
              <a:ext uri="{FF2B5EF4-FFF2-40B4-BE49-F238E27FC236}">
                <a16:creationId xmlns:a16="http://schemas.microsoft.com/office/drawing/2014/main" id="{B9F8AA13-6E08-4449-8E1E-48D26AB89C7A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CD0F9D3C-4FAD-45D7-B22F-A4ED2C976DB3}"/>
              </a:ext>
            </a:extLst>
          </p:cNvPr>
          <p:cNvSpPr>
            <a:spLocks noGrp="1"/>
          </p:cNvSpPr>
          <p:nvPr/>
        </p:nvSpPr>
        <p:spPr>
          <a:xfrm>
            <a:off x="10744200" y="6334125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074F0DC6-8311-42F4-ADE4-2EE1A4649BE6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4953000" cy="3095625"/>
          </a:xfrm>
          <a:prstGeom prst="roundRect">
            <a:avLst>
              <a:gd name="adj" fmla="val 2462"/>
            </a:avLst>
          </a:prstGeom>
          <a:solidFill>
            <a:srgbClr val="F0FDFA"/>
          </a:solidFill>
          <a:ln w="9525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CCC2B84F-EAE7-42AA-904B-598CA742907E}"/>
              </a:ext>
            </a:extLst>
          </p:cNvPr>
          <p:cNvSpPr>
            <a:spLocks noGrp="1"/>
          </p:cNvSpPr>
          <p:nvPr/>
        </p:nvSpPr>
        <p:spPr>
          <a:xfrm>
            <a:off x="1009650" y="225742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875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מה ייחודי בו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EDD12B7-9718-4803-A834-F72930A1F6CF}"/>
              </a:ext>
            </a:extLst>
          </p:cNvPr>
          <p:cNvSpPr>
            <a:spLocks noGrp="1"/>
          </p:cNvSpPr>
          <p:nvPr/>
        </p:nvSpPr>
        <p:spPr>
          <a:xfrm>
            <a:off x="1009650" y="2800350"/>
            <a:ext cx="40005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שורד סגירה ופתיחה של הדפדפן</a:t>
            </a:r>
          </a:p>
          <a:p>
            <a:pPr algn="r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משותף לכל הטאבים מאותו מקור</a:t>
            </a:r>
          </a:p>
          <a:p>
            <a:pPr algn="r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מודיע לטאבים אחרים על שינוי</a:t>
            </a: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B561A42E-5673-4685-B2D5-2719C1FCC317}"/>
              </a:ext>
            </a:extLst>
          </p:cNvPr>
          <p:cNvSpPr>
            <a:spLocks noGrp="1"/>
          </p:cNvSpPr>
          <p:nvPr/>
        </p:nvSpPr>
        <p:spPr>
          <a:xfrm>
            <a:off x="6553200" y="1952625"/>
            <a:ext cx="4953000" cy="3095625"/>
          </a:xfrm>
          <a:prstGeom prst="roundRect">
            <a:avLst>
              <a:gd name="adj" fmla="val 2462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F4BED138-A941-4E36-B390-AC2ADB7A0E29}"/>
              </a:ext>
            </a:extLst>
          </p:cNvPr>
          <p:cNvSpPr>
            <a:spLocks noGrp="1"/>
          </p:cNvSpPr>
          <p:nvPr/>
        </p:nvSpPr>
        <p:spPr>
          <a:xfrm>
            <a:off x="6877050" y="225742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מתי נשתמש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B540E2D1-4411-4448-AAF5-2CC2DBB8699D}"/>
              </a:ext>
            </a:extLst>
          </p:cNvPr>
          <p:cNvSpPr>
            <a:spLocks noGrp="1"/>
          </p:cNvSpPr>
          <p:nvPr/>
        </p:nvSpPr>
        <p:spPr>
          <a:xfrm>
            <a:off x="6877050" y="2800350"/>
            <a:ext cx="40005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העדפת ערכת צבעים</a:t>
            </a:r>
          </a:p>
          <a:p>
            <a:pPr algn="r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שפת ממשק</a:t>
            </a:r>
          </a:p>
          <a:p>
            <a:pPr algn="r"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מטמון קטן ולא רגיש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7D23CF04-9BB9-45CE-8FAE-928521CC3CB2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חשוב: גם הקריאה וגם הכתיבה סינכרוניות — אל תעמיסו עליו מידע גדול או תדיר.</a:t>
            </a:r>
          </a:p>
        </p:txBody>
      </p:sp>
    </p:spTree>
    <p:extLst>
      <p:ext uri="{BB962C8B-B14F-4D97-AF65-F5344CB8AC3E}">
        <p14:creationId xmlns:p14="http://schemas.microsoft.com/office/powerpoint/2010/main" val="1727082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לבן 12">
            <a:extLst>
              <a:ext uri="{FF2B5EF4-FFF2-40B4-BE49-F238E27FC236}">
                <a16:creationId xmlns:a16="http://schemas.microsoft.com/office/drawing/2014/main" id="{09E93A0D-28F2-409F-B78F-A3CBABE8E1D3}"/>
              </a:ext>
            </a:extLst>
          </p:cNvPr>
          <p:cNvSpPr>
            <a:spLocks noGrp="1"/>
          </p:cNvSpPr>
          <p:nvPr/>
        </p:nvSpPr>
        <p:spPr>
          <a:xfrm>
            <a:off x="7696200" y="4000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אחסון בדפדפן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281D7D16-85DF-4F1C-9E6D-AB1880E04512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IndexedDB: מסד נתונים קטן בצד הלקוח</a:t>
            </a:r>
          </a:p>
        </p:txBody>
      </p:sp>
      <p:sp>
        <p:nvSpPr>
          <p:cNvPr id="3" name="מלבן: פינות מעוגלות 2">
            <a:extLst>
              <a:ext uri="{FF2B5EF4-FFF2-40B4-BE49-F238E27FC236}">
                <a16:creationId xmlns:a16="http://schemas.microsoft.com/office/drawing/2014/main" id="{4E35764A-3B3E-4F09-B762-AE808FDA33EE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7EE6123F-BC37-4BCD-B515-537F64DE0E41}"/>
              </a:ext>
            </a:extLst>
          </p:cNvPr>
          <p:cNvSpPr>
            <a:spLocks noGrp="1"/>
          </p:cNvSpPr>
          <p:nvPr/>
        </p:nvSpPr>
        <p:spPr>
          <a:xfrm>
            <a:off x="10744200" y="6334125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C24081F-DA80-4744-947C-6EA57AF21B1D}"/>
              </a:ext>
            </a:extLst>
          </p:cNvPr>
          <p:cNvSpPr>
            <a:spLocks noGrp="1"/>
          </p:cNvSpPr>
          <p:nvPr/>
        </p:nvSpPr>
        <p:spPr>
          <a:xfrm>
            <a:off x="952500" y="2105025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א־סינכרוני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8B024F9F-5497-4ED5-A272-CCB8EDDFA7EB}"/>
              </a:ext>
            </a:extLst>
          </p:cNvPr>
          <p:cNvSpPr>
            <a:spLocks noGrp="1"/>
          </p:cNvSpPr>
          <p:nvPr/>
        </p:nvSpPr>
        <p:spPr>
          <a:xfrm>
            <a:off x="4857750" y="2105025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נתונים מובְנים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B2B5DADD-C4AF-4459-B33A-C50234EBE06F}"/>
              </a:ext>
            </a:extLst>
          </p:cNvPr>
          <p:cNvSpPr>
            <a:spLocks noGrp="1"/>
          </p:cNvSpPr>
          <p:nvPr/>
        </p:nvSpPr>
        <p:spPr>
          <a:xfrm>
            <a:off x="8572500" y="2105025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טרנזקציות ואינדקסים</a:t>
            </a: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50A0528B-820E-4E9F-AF3E-5AAB963C0189}"/>
              </a:ext>
            </a:extLst>
          </p:cNvPr>
          <p:cNvSpPr>
            <a:spLocks noGrp="1"/>
          </p:cNvSpPr>
          <p:nvPr/>
        </p:nvSpPr>
        <p:spPr>
          <a:xfrm>
            <a:off x="1428750" y="2714625"/>
            <a:ext cx="933450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66E23D07-F30E-4474-BA4B-B1D32ACCF5E8}"/>
              </a:ext>
            </a:extLst>
          </p:cNvPr>
          <p:cNvSpPr>
            <a:spLocks noGrp="1"/>
          </p:cNvSpPr>
          <p:nvPr/>
        </p:nvSpPr>
        <p:spPr>
          <a:xfrm>
            <a:off x="1428750" y="312420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אובייקטים מורכבים, רשומות רבות וקבצים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5A07E9C5-5629-4E84-8AF4-E82EF754E2D9}"/>
              </a:ext>
            </a:extLst>
          </p:cNvPr>
          <p:cNvSpPr>
            <a:spLocks noGrp="1"/>
          </p:cNvSpPr>
          <p:nvPr/>
        </p:nvSpPr>
        <p:spPr>
          <a:xfrm>
            <a:off x="1428750" y="3829050"/>
            <a:ext cx="9334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דוגמאות: אפליקציה ללא חיבור, מטמון, תור פעולות לסנכרון וקטלוג גדול</a:t>
            </a: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EB4C0C64-C4E0-4E34-A0B2-FD4642D2EBD1}"/>
              </a:ext>
            </a:extLst>
          </p:cNvPr>
          <p:cNvSpPr>
            <a:spLocks noGrp="1"/>
          </p:cNvSpPr>
          <p:nvPr/>
        </p:nvSpPr>
        <p:spPr>
          <a:xfrm>
            <a:off x="2838450" y="5048250"/>
            <a:ext cx="6515100" cy="45720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229E47DA-8A0B-4630-9AB0-1604509EF96D}"/>
              </a:ext>
            </a:extLst>
          </p:cNvPr>
          <p:cNvSpPr>
            <a:spLocks noGrp="1"/>
          </p:cNvSpPr>
          <p:nvPr/>
        </p:nvSpPr>
        <p:spPr>
          <a:xfrm>
            <a:off x="2990850" y="5153025"/>
            <a:ext cx="619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9A34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3412"/>
                </a:solidFill>
                <a:latin typeface="Arial"/>
                <a:ea typeface="Arial"/>
                <a:cs typeface="Arial"/>
              </a:rPr>
              <a:t>מחיר הגמישות: ממשק מורכב יותר וזרימה א־סינכרונית.</a:t>
            </a:r>
          </a:p>
        </p:txBody>
      </p:sp>
    </p:spTree>
    <p:extLst>
      <p:ext uri="{BB962C8B-B14F-4D97-AF65-F5344CB8AC3E}">
        <p14:creationId xmlns:p14="http://schemas.microsoft.com/office/powerpoint/2010/main" val="1629159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E38FB72B-45B2-4383-9C89-0F7132929E41}"/>
              </a:ext>
            </a:extLst>
          </p:cNvPr>
          <p:cNvSpPr>
            <a:spLocks noGrp="1"/>
          </p:cNvSpPr>
          <p:nvPr/>
        </p:nvSpPr>
        <p:spPr>
          <a:xfrm>
            <a:off x="7696200" y="4000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אחסון בדפדפן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03CB3ED5-3246-4D2E-8736-0A29FDA65350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ההבדלים במבט אחד</a:t>
            </a:r>
          </a:p>
        </p:txBody>
      </p:sp>
      <p:sp>
        <p:nvSpPr>
          <p:cNvPr id="3" name="מלבן: פינות מעוגלות 2">
            <a:extLst>
              <a:ext uri="{FF2B5EF4-FFF2-40B4-BE49-F238E27FC236}">
                <a16:creationId xmlns:a16="http://schemas.microsoft.com/office/drawing/2014/main" id="{0D31F9E4-3312-4BA8-B357-CFBB80B5761C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253A4DE1-D761-4F45-8438-B9DE19F28A0E}"/>
              </a:ext>
            </a:extLst>
          </p:cNvPr>
          <p:cNvSpPr>
            <a:spLocks noGrp="1"/>
          </p:cNvSpPr>
          <p:nvPr/>
        </p:nvSpPr>
        <p:spPr>
          <a:xfrm>
            <a:off x="10744200" y="6334125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טבלה 9"/>
          <p:cNvGraphicFramePr/>
          <p:nvPr/>
        </p:nvGraphicFramePr>
        <p:xfrm>
          <a:off x="685800" y="1952625"/>
          <a:ext cx="10820400" cy="3714750"/>
        </p:xfrm>
        <a:graphic>
          <a:graphicData uri="http://schemas.openxmlformats.org/drawingml/2006/table">
            <a:tbl>
              <a:tblPr firstRow="1" bandRow="1"/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IndexedDB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localStorage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sessionStorage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מאפיין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כל הטאבים מאותו מקור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כל הטאבים מאותו מקור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טאב יחיד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תחום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עד ניקוי/מחיקה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עד ניקוי/מחיקה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עד סגירת הטאב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משך חיים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אובייקטים וקבצים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מחרוזות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מחרוזות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נתונים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א־סינכרוני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סינכרוני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סינכרוני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ממשק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מטמון ועבודה ללא חיבור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העדפות קטנות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מצב מסך זמני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5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שימוש אופייני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5405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מלבן 20">
            <a:extLst>
              <a:ext uri="{FF2B5EF4-FFF2-40B4-BE49-F238E27FC236}">
                <a16:creationId xmlns:a16="http://schemas.microsoft.com/office/drawing/2014/main" id="{AE2517DB-56CD-464C-9501-FC810E86A748}"/>
              </a:ext>
            </a:extLst>
          </p:cNvPr>
          <p:cNvSpPr>
            <a:spLocks noGrp="1"/>
          </p:cNvSpPr>
          <p:nvPr/>
        </p:nvSpPr>
        <p:spPr>
          <a:xfrm>
            <a:off x="7696200" y="4000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אחסון בדפדפן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E876B46E-C965-42BB-B189-2A86E501D05A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עץ החלטה מהיר: מה לבחור?</a:t>
            </a:r>
          </a:p>
        </p:txBody>
      </p:sp>
      <p:sp>
        <p:nvSpPr>
          <p:cNvPr id="3" name="מלבן: פינות מעוגלות 2">
            <a:extLst>
              <a:ext uri="{FF2B5EF4-FFF2-40B4-BE49-F238E27FC236}">
                <a16:creationId xmlns:a16="http://schemas.microsoft.com/office/drawing/2014/main" id="{B412E281-AB42-4728-B722-54949F7E8FDB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7B221CC0-101E-4839-870A-04A8AF959B60}"/>
              </a:ext>
            </a:extLst>
          </p:cNvPr>
          <p:cNvSpPr>
            <a:spLocks noGrp="1"/>
          </p:cNvSpPr>
          <p:nvPr/>
        </p:nvSpPr>
        <p:spPr>
          <a:xfrm>
            <a:off x="10744200" y="6334125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6FFC9716-7F08-4DA1-A92A-C4BD214A5AC9}"/>
              </a:ext>
            </a:extLst>
          </p:cNvPr>
          <p:cNvSpPr>
            <a:spLocks noGrp="1"/>
          </p:cNvSpPr>
          <p:nvPr/>
        </p:nvSpPr>
        <p:spPr>
          <a:xfrm>
            <a:off x="1809750" y="2000250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האם המידע חייב להישאר אחרי סגירת הטאב?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3D8B56EA-81FF-41DA-ADA4-85D835F82A14}"/>
              </a:ext>
            </a:extLst>
          </p:cNvPr>
          <p:cNvSpPr>
            <a:spLocks noGrp="1"/>
          </p:cNvSpPr>
          <p:nvPr/>
        </p:nvSpPr>
        <p:spPr>
          <a:xfrm>
            <a:off x="6076950" y="2571750"/>
            <a:ext cx="38100" cy="0"/>
          </a:xfrm>
          <a:prstGeom prst="round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1F2F9428-4542-4685-8618-657E5AFFB7ED}"/>
              </a:ext>
            </a:extLst>
          </p:cNvPr>
          <p:cNvSpPr>
            <a:spLocks noGrp="1"/>
          </p:cNvSpPr>
          <p:nvPr/>
        </p:nvSpPr>
        <p:spPr>
          <a:xfrm>
            <a:off x="3810000" y="27813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לא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465D8C0A-32F9-437D-90CB-9E091F088423}"/>
              </a:ext>
            </a:extLst>
          </p:cNvPr>
          <p:cNvSpPr>
            <a:spLocks noGrp="1"/>
          </p:cNvSpPr>
          <p:nvPr/>
        </p:nvSpPr>
        <p:spPr>
          <a:xfrm>
            <a:off x="7334250" y="27813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כן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DFEF95F4-8D44-48EF-9F5C-35056AA116DE}"/>
              </a:ext>
            </a:extLst>
          </p:cNvPr>
          <p:cNvSpPr>
            <a:spLocks noGrp="1"/>
          </p:cNvSpPr>
          <p:nvPr/>
        </p:nvSpPr>
        <p:spPr>
          <a:xfrm>
            <a:off x="4171950" y="3105150"/>
            <a:ext cx="38100" cy="0"/>
          </a:xfrm>
          <a:prstGeom prst="round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39935D55-E694-4D9B-9FC0-080660456FFF}"/>
              </a:ext>
            </a:extLst>
          </p:cNvPr>
          <p:cNvSpPr>
            <a:spLocks noGrp="1"/>
          </p:cNvSpPr>
          <p:nvPr/>
        </p:nvSpPr>
        <p:spPr>
          <a:xfrm>
            <a:off x="7981950" y="3105150"/>
            <a:ext cx="38100" cy="0"/>
          </a:xfrm>
          <a:prstGeom prst="round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2D3BAFB2-999B-47B4-9050-C39B93DA9454}"/>
              </a:ext>
            </a:extLst>
          </p:cNvPr>
          <p:cNvSpPr>
            <a:spLocks noGrp="1"/>
          </p:cNvSpPr>
          <p:nvPr/>
        </p:nvSpPr>
        <p:spPr>
          <a:xfrm>
            <a:off x="2476500" y="3857625"/>
            <a:ext cx="3429000" cy="1200150"/>
          </a:xfrm>
          <a:prstGeom prst="roundRect">
            <a:avLst>
              <a:gd name="adj" fmla="val 634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20D76B77-9DC9-47F5-982F-3101EAF80484}"/>
              </a:ext>
            </a:extLst>
          </p:cNvPr>
          <p:cNvSpPr>
            <a:spLocks noGrp="1"/>
          </p:cNvSpPr>
          <p:nvPr/>
        </p:nvSpPr>
        <p:spPr>
          <a:xfrm>
            <a:off x="2667000" y="4095750"/>
            <a:ext cx="3048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0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sessionStorage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915FC52C-1645-46C9-B5B0-3FE0A88A25D6}"/>
              </a:ext>
            </a:extLst>
          </p:cNvPr>
          <p:cNvSpPr>
            <a:spLocks noGrp="1"/>
          </p:cNvSpPr>
          <p:nvPr/>
        </p:nvSpPr>
        <p:spPr>
          <a:xfrm>
            <a:off x="2667000" y="4552950"/>
            <a:ext cx="3048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מצב זמני של טאב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40BFDBD4-47A8-4F24-919F-4C766C6B33D0}"/>
              </a:ext>
            </a:extLst>
          </p:cNvPr>
          <p:cNvSpPr>
            <a:spLocks noGrp="1"/>
          </p:cNvSpPr>
          <p:nvPr/>
        </p:nvSpPr>
        <p:spPr>
          <a:xfrm>
            <a:off x="6858000" y="385762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האם מדובר במידע קטן ופשוט?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046730CE-7181-4CB1-AB2D-08405256D4F8}"/>
              </a:ext>
            </a:extLst>
          </p:cNvPr>
          <p:cNvSpPr>
            <a:spLocks noGrp="1"/>
          </p:cNvSpPr>
          <p:nvPr/>
        </p:nvSpPr>
        <p:spPr>
          <a:xfrm>
            <a:off x="6524625" y="43815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כן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8F0D6E92-1044-435E-B406-97D37B7F5258}"/>
              </a:ext>
            </a:extLst>
          </p:cNvPr>
          <p:cNvSpPr>
            <a:spLocks noGrp="1"/>
          </p:cNvSpPr>
          <p:nvPr/>
        </p:nvSpPr>
        <p:spPr>
          <a:xfrm>
            <a:off x="9906000" y="43815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לא</a:t>
            </a:r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0B371F80-02B9-4EAF-8D6C-63AB856DF818}"/>
              </a:ext>
            </a:extLst>
          </p:cNvPr>
          <p:cNvSpPr>
            <a:spLocks noGrp="1"/>
          </p:cNvSpPr>
          <p:nvPr/>
        </p:nvSpPr>
        <p:spPr>
          <a:xfrm>
            <a:off x="6038850" y="4810125"/>
            <a:ext cx="2000250" cy="9525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9525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900D3156-0A57-4388-92FE-2963F7502C73}"/>
              </a:ext>
            </a:extLst>
          </p:cNvPr>
          <p:cNvSpPr>
            <a:spLocks noGrp="1"/>
          </p:cNvSpPr>
          <p:nvPr/>
        </p:nvSpPr>
        <p:spPr>
          <a:xfrm>
            <a:off x="6172200" y="5048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localStorage</a:t>
            </a:r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0A8D0273-9F52-4D35-AF8E-3196F5AD5801}"/>
              </a:ext>
            </a:extLst>
          </p:cNvPr>
          <p:cNvSpPr>
            <a:spLocks noGrp="1"/>
          </p:cNvSpPr>
          <p:nvPr/>
        </p:nvSpPr>
        <p:spPr>
          <a:xfrm>
            <a:off x="8877300" y="4810125"/>
            <a:ext cx="2000250" cy="9525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34CB7739-C8E0-449F-B797-B935D920E56D}"/>
              </a:ext>
            </a:extLst>
          </p:cNvPr>
          <p:cNvSpPr>
            <a:spLocks noGrp="1"/>
          </p:cNvSpPr>
          <p:nvPr/>
        </p:nvSpPr>
        <p:spPr>
          <a:xfrm>
            <a:off x="9010650" y="5048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IndexedDB</a:t>
            </a:r>
          </a:p>
        </p:txBody>
      </p:sp>
    </p:spTree>
    <p:extLst>
      <p:ext uri="{BB962C8B-B14F-4D97-AF65-F5344CB8AC3E}">
        <p14:creationId xmlns:p14="http://schemas.microsoft.com/office/powerpoint/2010/main" val="899426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לבן 17">
            <a:extLst>
              <a:ext uri="{FF2B5EF4-FFF2-40B4-BE49-F238E27FC236}">
                <a16:creationId xmlns:a16="http://schemas.microsoft.com/office/drawing/2014/main" id="{10DB1DB6-6F81-49E5-8B73-902DDD7489D7}"/>
              </a:ext>
            </a:extLst>
          </p:cNvPr>
          <p:cNvSpPr>
            <a:spLocks noGrp="1"/>
          </p:cNvSpPr>
          <p:nvPr/>
        </p:nvSpPr>
        <p:spPr>
          <a:xfrm>
            <a:off x="7696200" y="4000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אחסון בדפדפן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F4636799-38D7-40FA-B604-83B604ACFC70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28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כללי אצבע לסיום</a:t>
            </a:r>
          </a:p>
        </p:txBody>
      </p:sp>
      <p:sp>
        <p:nvSpPr>
          <p:cNvPr id="3" name="מלבן: פינות מעוגלות 2">
            <a:extLst>
              <a:ext uri="{FF2B5EF4-FFF2-40B4-BE49-F238E27FC236}">
                <a16:creationId xmlns:a16="http://schemas.microsoft.com/office/drawing/2014/main" id="{0BCCB61B-E861-41CC-8C19-798F5925361B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190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14FFE908-2FCF-4767-94D5-1714A7A3CEC8}"/>
              </a:ext>
            </a:extLst>
          </p:cNvPr>
          <p:cNvSpPr>
            <a:spLocks noGrp="1"/>
          </p:cNvSpPr>
          <p:nvPr/>
        </p:nvSpPr>
        <p:spPr>
          <a:xfrm>
            <a:off x="10744200" y="6334125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46004F58-557F-42A4-B5D2-533D50F02896}"/>
              </a:ext>
            </a:extLst>
          </p:cNvPr>
          <p:cNvSpPr>
            <a:spLocks noGrp="1"/>
          </p:cNvSpPr>
          <p:nvPr/>
        </p:nvSpPr>
        <p:spPr>
          <a:xfrm>
            <a:off x="8305800" y="2333625"/>
            <a:ext cx="2857500" cy="200025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F75E436A-5DEB-4CDE-A3A0-5FEBAC11493A}"/>
              </a:ext>
            </a:extLst>
          </p:cNvPr>
          <p:cNvSpPr>
            <a:spLocks noGrp="1"/>
          </p:cNvSpPr>
          <p:nvPr/>
        </p:nvSpPr>
        <p:spPr>
          <a:xfrm>
            <a:off x="8305800" y="2333625"/>
            <a:ext cx="2857500" cy="857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9B13F66C-E8EB-43A1-A05F-8A2D627A76B9}"/>
              </a:ext>
            </a:extLst>
          </p:cNvPr>
          <p:cNvSpPr>
            <a:spLocks noGrp="1"/>
          </p:cNvSpPr>
          <p:nvPr/>
        </p:nvSpPr>
        <p:spPr>
          <a:xfrm>
            <a:off x="8534400" y="2609850"/>
            <a:ext cx="2400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217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1. לא מידע סודי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D7E88FAF-9E71-4243-B7EC-EC9F2A08AFCE}"/>
              </a:ext>
            </a:extLst>
          </p:cNvPr>
          <p:cNvSpPr>
            <a:spLocks noGrp="1"/>
          </p:cNvSpPr>
          <p:nvPr/>
        </p:nvSpPr>
        <p:spPr>
          <a:xfrm>
            <a:off x="8534400" y="3219450"/>
            <a:ext cx="24003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אחסון בדפדפן נגיש לקוד שרץ בדף. אל תשמרו בו אסימוני גישה רגישים.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3FEEDF5B-1547-4C1B-97B6-7F0269A463CC}"/>
              </a:ext>
            </a:extLst>
          </p:cNvPr>
          <p:cNvSpPr>
            <a:spLocks noGrp="1"/>
          </p:cNvSpPr>
          <p:nvPr/>
        </p:nvSpPr>
        <p:spPr>
          <a:xfrm>
            <a:off x="4667250" y="2333625"/>
            <a:ext cx="2857500" cy="200025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96F33DC0-D9F5-40FB-B884-52E84B9677D5}"/>
              </a:ext>
            </a:extLst>
          </p:cNvPr>
          <p:cNvSpPr>
            <a:spLocks noGrp="1"/>
          </p:cNvSpPr>
          <p:nvPr/>
        </p:nvSpPr>
        <p:spPr>
          <a:xfrm>
            <a:off x="4667250" y="2333625"/>
            <a:ext cx="2857500" cy="857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E286FF16-844F-460A-905F-60073FB7F06A}"/>
              </a:ext>
            </a:extLst>
          </p:cNvPr>
          <p:cNvSpPr>
            <a:spLocks noGrp="1"/>
          </p:cNvSpPr>
          <p:nvPr/>
        </p:nvSpPr>
        <p:spPr>
          <a:xfrm>
            <a:off x="4895850" y="2609850"/>
            <a:ext cx="2400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21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2. ניהול מטמון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B5271A8B-7F7B-4E88-AAA3-473B666CD2F8}"/>
              </a:ext>
            </a:extLst>
          </p:cNvPr>
          <p:cNvSpPr>
            <a:spLocks noGrp="1"/>
          </p:cNvSpPr>
          <p:nvPr/>
        </p:nvSpPr>
        <p:spPr>
          <a:xfrm>
            <a:off x="4895850" y="3219450"/>
            <a:ext cx="24003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הגדירו גרסה, זמן תפוגה וכללי רענון לנתונים מקומיים.</a:t>
            </a: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D6520973-3573-4855-B9CD-585438406B74}"/>
              </a:ext>
            </a:extLst>
          </p:cNvPr>
          <p:cNvSpPr>
            <a:spLocks noGrp="1"/>
          </p:cNvSpPr>
          <p:nvPr/>
        </p:nvSpPr>
        <p:spPr>
          <a:xfrm>
            <a:off x="1028700" y="2333625"/>
            <a:ext cx="2857500" cy="200025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C5D2E1FD-C443-4A86-981B-94406E49A593}"/>
              </a:ext>
            </a:extLst>
          </p:cNvPr>
          <p:cNvSpPr>
            <a:spLocks noGrp="1"/>
          </p:cNvSpPr>
          <p:nvPr/>
        </p:nvSpPr>
        <p:spPr>
          <a:xfrm>
            <a:off x="1028700" y="2333625"/>
            <a:ext cx="2857500" cy="85725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88EC468B-0879-479E-A201-34B7634BB274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2400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21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3. לא להסתבך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56982389-9F5F-4AFD-B782-C086AD6AEBA1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24003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5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התחילו במנגנון הפשוט ביותר; עברו ל־IndexedDB כשהצורך אמיתי.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52576D5D-0D40-48F3-8125-9A6B7406779C}"/>
              </a:ext>
            </a:extLst>
          </p:cNvPr>
          <p:cNvSpPr>
            <a:spLocks noGrp="1"/>
          </p:cNvSpPr>
          <p:nvPr/>
        </p:nvSpPr>
        <p:spPr>
          <a:xfrm>
            <a:off x="1143000" y="52387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9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בחירה נכונה נשענת על משך החיים, תחום הגישה, מבנה הנתונים ודפוס השימוש.</a:t>
            </a:r>
          </a:p>
        </p:txBody>
      </p:sp>
    </p:spTree>
    <p:extLst>
      <p:ext uri="{BB962C8B-B14F-4D97-AF65-F5344CB8AC3E}">
        <p14:creationId xmlns:p14="http://schemas.microsoft.com/office/powerpoint/2010/main" val="3575270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Microsoft Office PowerPoint</Application>
  <DocSecurity>0</DocSecurity>
  <PresentationFormat>מסך רחב</PresentationFormat>
  <Paragraphs>131</Paragraphs>
  <Slides>8</Slides>
  <Notes>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1" baseType="lpstr">
      <vt:lpstr>Arial</vt:lpstr>
      <vt:lpstr>Calibri</vt:lpstr>
      <vt:lpstr>ChatGPT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ציבי שחר</cp:lastModifiedBy>
  <cp:revision>1</cp:revision>
  <dcterms:created xsi:type="dcterms:W3CDTF">2026-08-17T16:58:45Z</dcterms:created>
  <dcterms:modified xsi:type="dcterms:W3CDTF">2026-08-17T17:03:05Z</dcterms:modified>
</cp:coreProperties>
</file>